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93" d="100"/>
          <a:sy n="93" d="100"/>
        </p:scale>
        <p:origin x="726" y="90"/>
      </p:cViewPr>
      <p:guideLst/>
    </p:cSldViewPr>
  </p:slideViewPr>
  <p:notesTextViewPr>
    <p:cViewPr>
      <p:scale>
        <a:sx n="1" d="1"/>
        <a:sy n="1" d="1"/>
      </p:scale>
      <p:origin x="0" y="-89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5621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Assalamu'alaikum</a:t>
            </a:r>
            <a:r>
              <a:rPr lang="en-US" dirty="0"/>
              <a:t> </a:t>
            </a:r>
            <a:r>
              <a:rPr lang="en-US" dirty="0" err="1"/>
              <a:t>warahmatullahi</a:t>
            </a:r>
            <a:r>
              <a:rPr lang="en-US" dirty="0"/>
              <a:t> </a:t>
            </a:r>
            <a:r>
              <a:rPr lang="en-US" dirty="0" err="1"/>
              <a:t>wabarakatuh</a:t>
            </a:r>
            <a:r>
              <a:rPr lang="en-US" dirty="0"/>
              <a:t>.</a:t>
            </a:r>
          </a:p>
          <a:p>
            <a:r>
              <a:rPr lang="en-US" dirty="0"/>
              <a:t>Selamat </a:t>
            </a:r>
            <a:r>
              <a:rPr lang="en-US" dirty="0" err="1"/>
              <a:t>pagi</a:t>
            </a:r>
            <a:r>
              <a:rPr lang="en-US" dirty="0"/>
              <a:t> </a:t>
            </a:r>
            <a:r>
              <a:rPr lang="en-US" dirty="0" err="1"/>
              <a:t>atau</a:t>
            </a:r>
            <a:r>
              <a:rPr lang="en-US" dirty="0"/>
              <a:t> </a:t>
            </a:r>
            <a:r>
              <a:rPr lang="en-US" dirty="0" err="1"/>
              <a:t>selamat</a:t>
            </a:r>
            <a:r>
              <a:rPr lang="en-US" dirty="0"/>
              <a:t> </a:t>
            </a:r>
            <a:r>
              <a:rPr lang="en-US" dirty="0" err="1"/>
              <a:t>siang</a:t>
            </a:r>
            <a:r>
              <a:rPr lang="en-US" dirty="0"/>
              <a:t> </a:t>
            </a:r>
            <a:r>
              <a:rPr lang="en-US" dirty="0" err="1"/>
              <a:t>saya</a:t>
            </a:r>
            <a:r>
              <a:rPr lang="en-US" dirty="0"/>
              <a:t> </a:t>
            </a:r>
            <a:r>
              <a:rPr lang="en-US" dirty="0" err="1"/>
              <a:t>haturkan</a:t>
            </a:r>
            <a:r>
              <a:rPr lang="en-US" dirty="0"/>
              <a:t> </a:t>
            </a:r>
            <a:r>
              <a:rPr lang="en-US" dirty="0" err="1"/>
              <a:t>secara</a:t>
            </a:r>
            <a:r>
              <a:rPr lang="en-US" dirty="0"/>
              <a:t> </a:t>
            </a:r>
            <a:r>
              <a:rPr lang="en-US" dirty="0" err="1"/>
              <a:t>khusus</a:t>
            </a:r>
            <a:r>
              <a:rPr lang="en-US" dirty="0"/>
              <a:t> </a:t>
            </a:r>
            <a:r>
              <a:rPr lang="en-US" dirty="0" err="1"/>
              <a:t>kepada</a:t>
            </a:r>
            <a:r>
              <a:rPr lang="en-US" dirty="0"/>
              <a:t> Dosen </a:t>
            </a:r>
            <a:r>
              <a:rPr lang="en-US" dirty="0" err="1"/>
              <a:t>Pengampu</a:t>
            </a:r>
            <a:r>
              <a:rPr lang="en-US" dirty="0"/>
              <a:t> </a:t>
            </a:r>
            <a:r>
              <a:rPr lang="en-US" dirty="0" err="1"/>
              <a:t>mata</a:t>
            </a:r>
            <a:r>
              <a:rPr lang="en-US" dirty="0"/>
              <a:t> </a:t>
            </a:r>
            <a:r>
              <a:rPr lang="en-US" dirty="0" err="1"/>
              <a:t>kuliah</a:t>
            </a:r>
            <a:r>
              <a:rPr lang="en-US" dirty="0"/>
              <a:t> </a:t>
            </a:r>
            <a:r>
              <a:rPr lang="en-US" dirty="0" err="1"/>
              <a:t>Metodologi</a:t>
            </a:r>
            <a:r>
              <a:rPr lang="en-US" dirty="0"/>
              <a:t> </a:t>
            </a:r>
            <a:r>
              <a:rPr lang="en-US" dirty="0" err="1"/>
              <a:t>Penelitian</a:t>
            </a:r>
            <a:r>
              <a:rPr lang="en-US" dirty="0"/>
              <a:t>, Bapak Hendri Karisma, Es-Kom, Em-</a:t>
            </a:r>
            <a:r>
              <a:rPr lang="en-US" dirty="0" err="1"/>
              <a:t>Te</a:t>
            </a:r>
            <a:r>
              <a:rPr lang="en-US" dirty="0"/>
              <a:t>. </a:t>
            </a:r>
            <a:r>
              <a:rPr lang="en-US" dirty="0" err="1"/>
              <a:t>Terima</a:t>
            </a:r>
            <a:r>
              <a:rPr lang="en-US" dirty="0"/>
              <a:t> </a:t>
            </a:r>
            <a:r>
              <a:rPr lang="en-US" dirty="0" err="1"/>
              <a:t>kasih</a:t>
            </a:r>
            <a:r>
              <a:rPr lang="en-US" dirty="0"/>
              <a:t> </a:t>
            </a:r>
            <a:r>
              <a:rPr lang="en-US" dirty="0" err="1"/>
              <a:t>banyak</a:t>
            </a:r>
            <a:r>
              <a:rPr lang="en-US" dirty="0"/>
              <a:t> </a:t>
            </a:r>
            <a:r>
              <a:rPr lang="en-US" dirty="0" err="1"/>
              <a:t>atas</a:t>
            </a:r>
            <a:r>
              <a:rPr lang="en-US" dirty="0"/>
              <a:t> </a:t>
            </a:r>
            <a:r>
              <a:rPr lang="en-US" dirty="0" err="1"/>
              <a:t>waktu</a:t>
            </a:r>
            <a:r>
              <a:rPr lang="en-US" dirty="0"/>
              <a:t>, </a:t>
            </a:r>
            <a:r>
              <a:rPr lang="en-US" dirty="0" err="1"/>
              <a:t>arahan</a:t>
            </a:r>
            <a:r>
              <a:rPr lang="en-US" dirty="0"/>
              <a:t>, dan </a:t>
            </a:r>
            <a:r>
              <a:rPr lang="en-US" dirty="0" err="1"/>
              <a:t>kesempatan</a:t>
            </a:r>
            <a:r>
              <a:rPr lang="en-US" dirty="0"/>
              <a:t> yang Bapak </a:t>
            </a:r>
            <a:r>
              <a:rPr lang="en-US" dirty="0" err="1"/>
              <a:t>berikan</a:t>
            </a:r>
            <a:r>
              <a:rPr lang="en-US" dirty="0"/>
              <a:t> </a:t>
            </a:r>
            <a:r>
              <a:rPr lang="en-US" dirty="0" err="1"/>
              <a:t>kepada</a:t>
            </a:r>
            <a:r>
              <a:rPr lang="en-US" dirty="0"/>
              <a:t> </a:t>
            </a:r>
            <a:r>
              <a:rPr lang="en-US" dirty="0" err="1"/>
              <a:t>saya</a:t>
            </a:r>
            <a:r>
              <a:rPr lang="en-US" dirty="0"/>
              <a:t> </a:t>
            </a:r>
            <a:r>
              <a:rPr lang="en-US" dirty="0" err="1"/>
              <a:t>untuk</a:t>
            </a:r>
            <a:r>
              <a:rPr lang="en-US" dirty="0"/>
              <a:t> </a:t>
            </a:r>
            <a:r>
              <a:rPr lang="en-US" dirty="0" err="1"/>
              <a:t>memaparkan</a:t>
            </a:r>
            <a:r>
              <a:rPr lang="en-US" dirty="0"/>
              <a:t> </a:t>
            </a:r>
            <a:r>
              <a:rPr lang="en-US" dirty="0" err="1"/>
              <a:t>perkembangan</a:t>
            </a:r>
            <a:r>
              <a:rPr lang="en-US" dirty="0"/>
              <a:t> </a:t>
            </a:r>
            <a:r>
              <a:rPr lang="en-US" dirty="0" err="1"/>
              <a:t>tugas</a:t>
            </a:r>
            <a:r>
              <a:rPr lang="en-US" dirty="0"/>
              <a:t> </a:t>
            </a:r>
            <a:r>
              <a:rPr lang="en-US" dirty="0" err="1"/>
              <a:t>riset</a:t>
            </a:r>
            <a:r>
              <a:rPr lang="en-US" dirty="0"/>
              <a:t> </a:t>
            </a:r>
            <a:r>
              <a:rPr lang="en-US" dirty="0" err="1"/>
              <a:t>ini</a:t>
            </a:r>
            <a:r>
              <a:rPr lang="en-US" dirty="0"/>
              <a:t>.</a:t>
            </a:r>
          </a:p>
          <a:p>
            <a:r>
              <a:rPr lang="en-US" dirty="0" err="1"/>
              <a:t>Perkenalkan</a:t>
            </a:r>
            <a:r>
              <a:rPr lang="en-US" dirty="0"/>
              <a:t>, nama </a:t>
            </a:r>
            <a:r>
              <a:rPr lang="en-US" dirty="0" err="1"/>
              <a:t>saya</a:t>
            </a:r>
            <a:r>
              <a:rPr lang="en-US" dirty="0"/>
              <a:t> Shanaya </a:t>
            </a:r>
            <a:r>
              <a:rPr lang="en-US" dirty="0" err="1"/>
              <a:t>Balghis</a:t>
            </a:r>
            <a:r>
              <a:rPr lang="en-US" dirty="0"/>
              <a:t> </a:t>
            </a:r>
            <a:r>
              <a:rPr lang="en-US" dirty="0" err="1"/>
              <a:t>Riyona</a:t>
            </a:r>
            <a:r>
              <a:rPr lang="en-US" dirty="0"/>
              <a:t>, </a:t>
            </a:r>
            <a:r>
              <a:rPr lang="en-US" dirty="0" err="1"/>
              <a:t>dengan</a:t>
            </a:r>
            <a:r>
              <a:rPr lang="en-US" dirty="0"/>
              <a:t> Nim Dua </a:t>
            </a:r>
            <a:r>
              <a:rPr lang="en-US" dirty="0" err="1"/>
              <a:t>Empat</a:t>
            </a:r>
            <a:r>
              <a:rPr lang="en-US" dirty="0"/>
              <a:t> Satu Lima </a:t>
            </a:r>
            <a:r>
              <a:rPr lang="en-US" dirty="0" err="1"/>
              <a:t>Lima</a:t>
            </a:r>
            <a:r>
              <a:rPr lang="en-US" dirty="0"/>
              <a:t> Dua Nol </a:t>
            </a:r>
            <a:r>
              <a:rPr lang="en-US" dirty="0" err="1"/>
              <a:t>Nol</a:t>
            </a:r>
            <a:r>
              <a:rPr lang="en-US" dirty="0"/>
              <a:t> Satu Nol Satu Dua. Saya </a:t>
            </a:r>
            <a:r>
              <a:rPr lang="en-US" dirty="0" err="1"/>
              <a:t>adalah</a:t>
            </a:r>
            <a:r>
              <a:rPr lang="en-US" dirty="0"/>
              <a:t> </a:t>
            </a:r>
            <a:r>
              <a:rPr lang="en-US" dirty="0" err="1"/>
              <a:t>mahasiswi</a:t>
            </a:r>
            <a:r>
              <a:rPr lang="en-US" dirty="0"/>
              <a:t> </a:t>
            </a:r>
            <a:r>
              <a:rPr lang="en-US" dirty="0" err="1"/>
              <a:t>dari</a:t>
            </a:r>
            <a:r>
              <a:rPr lang="en-US" dirty="0"/>
              <a:t> Program Studi Teknik </a:t>
            </a:r>
            <a:r>
              <a:rPr lang="en-US" dirty="0" err="1"/>
              <a:t>Informatika</a:t>
            </a:r>
            <a:r>
              <a:rPr lang="en-US" dirty="0"/>
              <a:t>, </a:t>
            </a:r>
            <a:r>
              <a:rPr lang="en-US" dirty="0" err="1"/>
              <a:t>Fakultas</a:t>
            </a:r>
            <a:r>
              <a:rPr lang="en-US" dirty="0"/>
              <a:t> Sains dan </a:t>
            </a:r>
            <a:r>
              <a:rPr lang="en-US" dirty="0" err="1"/>
              <a:t>Teknologi</a:t>
            </a:r>
            <a:r>
              <a:rPr lang="en-US" dirty="0"/>
              <a:t>, </a:t>
            </a:r>
            <a:r>
              <a:rPr lang="en-US" dirty="0" err="1"/>
              <a:t>Estemik</a:t>
            </a:r>
            <a:r>
              <a:rPr lang="en-US" dirty="0"/>
              <a:t> Tazkia. Pada video </a:t>
            </a:r>
            <a:r>
              <a:rPr lang="en-US" dirty="0" err="1"/>
              <a:t>presentasi</a:t>
            </a:r>
            <a:r>
              <a:rPr lang="en-US" dirty="0"/>
              <a:t> kali </a:t>
            </a:r>
            <a:r>
              <a:rPr lang="en-US" dirty="0" err="1"/>
              <a:t>ini</a:t>
            </a:r>
            <a:r>
              <a:rPr lang="en-US" dirty="0"/>
              <a:t>, </a:t>
            </a:r>
            <a:r>
              <a:rPr lang="en-US" dirty="0" err="1"/>
              <a:t>saya</a:t>
            </a:r>
            <a:r>
              <a:rPr lang="en-US" dirty="0"/>
              <a:t> </a:t>
            </a:r>
            <a:r>
              <a:rPr lang="en-US" dirty="0" err="1"/>
              <a:t>akan</a:t>
            </a:r>
            <a:r>
              <a:rPr lang="en-US" dirty="0"/>
              <a:t> </a:t>
            </a:r>
            <a:r>
              <a:rPr lang="en-US" dirty="0" err="1"/>
              <a:t>memaparkan</a:t>
            </a:r>
            <a:r>
              <a:rPr lang="en-US" dirty="0"/>
              <a:t> </a:t>
            </a:r>
            <a:r>
              <a:rPr lang="en-US" dirty="0" err="1"/>
              <a:t>draf</a:t>
            </a:r>
            <a:r>
              <a:rPr lang="en-US" dirty="0"/>
              <a:t> proposal yang </a:t>
            </a:r>
            <a:r>
              <a:rPr lang="en-US" dirty="0" err="1"/>
              <a:t>telah</a:t>
            </a:r>
            <a:r>
              <a:rPr lang="en-US" dirty="0"/>
              <a:t> </a:t>
            </a:r>
            <a:r>
              <a:rPr lang="en-US" dirty="0" err="1"/>
              <a:t>saya</a:t>
            </a:r>
            <a:r>
              <a:rPr lang="en-US" dirty="0"/>
              <a:t> </a:t>
            </a:r>
            <a:r>
              <a:rPr lang="en-US" dirty="0" err="1"/>
              <a:t>susun</a:t>
            </a:r>
            <a:r>
              <a:rPr lang="en-US" dirty="0"/>
              <a:t> </a:t>
            </a:r>
            <a:r>
              <a:rPr lang="en-US" dirty="0" err="1"/>
              <a:t>untuk</a:t>
            </a:r>
            <a:r>
              <a:rPr lang="en-US" dirty="0"/>
              <a:t> </a:t>
            </a:r>
            <a:r>
              <a:rPr lang="en-US" dirty="0" err="1"/>
              <a:t>memenuhi</a:t>
            </a:r>
            <a:r>
              <a:rPr lang="en-US" dirty="0"/>
              <a:t> </a:t>
            </a:r>
            <a:r>
              <a:rPr lang="en-US" dirty="0" err="1"/>
              <a:t>tugas</a:t>
            </a:r>
            <a:r>
              <a:rPr lang="en-US" dirty="0"/>
              <a:t> </a:t>
            </a:r>
            <a:r>
              <a:rPr lang="en-US" dirty="0" err="1"/>
              <a:t>Ujian</a:t>
            </a:r>
            <a:r>
              <a:rPr lang="en-US" dirty="0"/>
              <a:t> Tengah Semester </a:t>
            </a:r>
            <a:r>
              <a:rPr lang="en-US" dirty="0" err="1"/>
              <a:t>dengan</a:t>
            </a:r>
            <a:r>
              <a:rPr lang="en-US" dirty="0"/>
              <a:t> </a:t>
            </a:r>
            <a:r>
              <a:rPr lang="en-US" dirty="0" err="1"/>
              <a:t>judul</a:t>
            </a:r>
            <a:r>
              <a:rPr lang="en-US" dirty="0"/>
              <a:t>: '</a:t>
            </a:r>
            <a:r>
              <a:rPr lang="en-US" dirty="0" err="1"/>
              <a:t>Penerapan</a:t>
            </a:r>
            <a:r>
              <a:rPr lang="en-US" dirty="0"/>
              <a:t> Metode Retrieval-Augmented Generation </a:t>
            </a:r>
            <a:r>
              <a:rPr lang="en-US" dirty="0" err="1"/>
              <a:t>untuk</a:t>
            </a:r>
            <a:r>
              <a:rPr lang="en-US" dirty="0"/>
              <a:t> </a:t>
            </a:r>
            <a:r>
              <a:rPr lang="en-US" dirty="0" err="1"/>
              <a:t>Meningkatkan</a:t>
            </a:r>
            <a:r>
              <a:rPr lang="en-US" dirty="0"/>
              <a:t> </a:t>
            </a:r>
            <a:r>
              <a:rPr lang="en-US" dirty="0" err="1"/>
              <a:t>Kemampuan</a:t>
            </a:r>
            <a:r>
              <a:rPr lang="en-US" dirty="0"/>
              <a:t> </a:t>
            </a:r>
            <a:r>
              <a:rPr lang="en-US" dirty="0" err="1"/>
              <a:t>Generalisasi</a:t>
            </a:r>
            <a:r>
              <a:rPr lang="en-US" dirty="0"/>
              <a:t> Model Natural Language Processing Bahasa Indonesia pada </a:t>
            </a:r>
            <a:r>
              <a:rPr lang="en-US" dirty="0" err="1"/>
              <a:t>Berbagai</a:t>
            </a:r>
            <a:r>
              <a:rPr lang="en-US" dirty="0"/>
              <a:t> Domain'.</a:t>
            </a:r>
          </a:p>
          <a:p>
            <a:r>
              <a:rPr lang="en-US" dirty="0" err="1"/>
              <a:t>Melalui</a:t>
            </a:r>
            <a:r>
              <a:rPr lang="en-US" dirty="0"/>
              <a:t> video </a:t>
            </a:r>
            <a:r>
              <a:rPr lang="en-US" dirty="0" err="1"/>
              <a:t>ini</a:t>
            </a:r>
            <a:r>
              <a:rPr lang="en-US" dirty="0"/>
              <a:t>, </a:t>
            </a:r>
            <a:r>
              <a:rPr lang="en-US" dirty="0" err="1"/>
              <a:t>saya</a:t>
            </a:r>
            <a:r>
              <a:rPr lang="en-US" dirty="0"/>
              <a:t> </a:t>
            </a:r>
            <a:r>
              <a:rPr lang="en-US" dirty="0" err="1"/>
              <a:t>akan</a:t>
            </a:r>
            <a:r>
              <a:rPr lang="en-US" dirty="0"/>
              <a:t> </a:t>
            </a:r>
            <a:r>
              <a:rPr lang="en-US" dirty="0" err="1"/>
              <a:t>menjelaskan</a:t>
            </a:r>
            <a:r>
              <a:rPr lang="en-US" dirty="0"/>
              <a:t> </a:t>
            </a:r>
            <a:r>
              <a:rPr lang="en-US" dirty="0" err="1"/>
              <a:t>secara</a:t>
            </a:r>
            <a:r>
              <a:rPr lang="en-US" dirty="0"/>
              <a:t> </a:t>
            </a:r>
            <a:r>
              <a:rPr lang="en-US" dirty="0" err="1"/>
              <a:t>runut</a:t>
            </a:r>
            <a:r>
              <a:rPr lang="en-US" dirty="0"/>
              <a:t> </a:t>
            </a:r>
            <a:r>
              <a:rPr lang="en-US" dirty="0" err="1"/>
              <a:t>mulai</a:t>
            </a:r>
            <a:r>
              <a:rPr lang="en-US" dirty="0"/>
              <a:t> </a:t>
            </a:r>
            <a:r>
              <a:rPr lang="en-US" dirty="0" err="1"/>
              <a:t>dari</a:t>
            </a:r>
            <a:r>
              <a:rPr lang="en-US" dirty="0"/>
              <a:t> </a:t>
            </a:r>
            <a:r>
              <a:rPr lang="en-US" dirty="0" err="1"/>
              <a:t>latar</a:t>
            </a:r>
            <a:r>
              <a:rPr lang="en-US" dirty="0"/>
              <a:t> </a:t>
            </a:r>
            <a:r>
              <a:rPr lang="en-US" dirty="0" err="1"/>
              <a:t>belakang</a:t>
            </a:r>
            <a:r>
              <a:rPr lang="en-US" dirty="0"/>
              <a:t>, </a:t>
            </a:r>
            <a:r>
              <a:rPr lang="en-US" dirty="0" err="1"/>
              <a:t>rumusan</a:t>
            </a:r>
            <a:r>
              <a:rPr lang="en-US" dirty="0"/>
              <a:t> </a:t>
            </a:r>
            <a:r>
              <a:rPr lang="en-US" dirty="0" err="1"/>
              <a:t>masalah</a:t>
            </a:r>
            <a:r>
              <a:rPr lang="en-US" dirty="0"/>
              <a:t>, </a:t>
            </a:r>
            <a:r>
              <a:rPr lang="en-US" dirty="0" err="1"/>
              <a:t>hipotesis</a:t>
            </a:r>
            <a:r>
              <a:rPr lang="en-US" dirty="0"/>
              <a:t>, </a:t>
            </a:r>
            <a:r>
              <a:rPr lang="en-US" dirty="0" err="1"/>
              <a:t>tujuan</a:t>
            </a:r>
            <a:r>
              <a:rPr lang="en-US" dirty="0"/>
              <a:t>, </a:t>
            </a:r>
            <a:r>
              <a:rPr lang="en-US" dirty="0" err="1"/>
              <a:t>batasan</a:t>
            </a:r>
            <a:r>
              <a:rPr lang="en-US" dirty="0"/>
              <a:t> </a:t>
            </a:r>
            <a:r>
              <a:rPr lang="en-US" dirty="0" err="1"/>
              <a:t>komputasi</a:t>
            </a:r>
            <a:r>
              <a:rPr lang="en-US" dirty="0"/>
              <a:t> </a:t>
            </a:r>
            <a:r>
              <a:rPr lang="en-US" dirty="0" err="1"/>
              <a:t>lokal</a:t>
            </a:r>
            <a:r>
              <a:rPr lang="en-US" dirty="0"/>
              <a:t> yang </a:t>
            </a:r>
            <a:r>
              <a:rPr lang="en-US" dirty="0" err="1"/>
              <a:t>saya</a:t>
            </a:r>
            <a:r>
              <a:rPr lang="en-US" dirty="0"/>
              <a:t> </a:t>
            </a:r>
            <a:r>
              <a:rPr lang="en-US" dirty="0" err="1"/>
              <a:t>hadapi</a:t>
            </a:r>
            <a:r>
              <a:rPr lang="en-US" dirty="0"/>
              <a:t>, </a:t>
            </a:r>
            <a:r>
              <a:rPr lang="en-US" dirty="0" err="1"/>
              <a:t>hingga</a:t>
            </a:r>
            <a:r>
              <a:rPr lang="en-US" dirty="0"/>
              <a:t> </a:t>
            </a:r>
            <a:r>
              <a:rPr lang="en-US" dirty="0" err="1"/>
              <a:t>rencana</a:t>
            </a:r>
            <a:r>
              <a:rPr lang="en-US" dirty="0"/>
              <a:t> </a:t>
            </a:r>
            <a:r>
              <a:rPr lang="en-US" dirty="0" err="1"/>
              <a:t>kerja</a:t>
            </a:r>
            <a:r>
              <a:rPr lang="en-US" dirty="0"/>
              <a:t> </a:t>
            </a:r>
            <a:r>
              <a:rPr lang="en-US" dirty="0" err="1"/>
              <a:t>empat</a:t>
            </a:r>
            <a:r>
              <a:rPr lang="en-US" dirty="0"/>
              <a:t> </a:t>
            </a:r>
            <a:r>
              <a:rPr lang="en-US" dirty="0" err="1"/>
              <a:t>bulan</a:t>
            </a:r>
            <a:r>
              <a:rPr lang="en-US" dirty="0"/>
              <a:t> </a:t>
            </a:r>
            <a:r>
              <a:rPr lang="en-US" dirty="0" err="1"/>
              <a:t>ke</a:t>
            </a:r>
            <a:r>
              <a:rPr lang="en-US" dirty="0"/>
              <a:t> </a:t>
            </a:r>
            <a:r>
              <a:rPr lang="en-US" dirty="0" err="1"/>
              <a:t>depan</a:t>
            </a:r>
            <a:r>
              <a:rPr lang="en-US" dirty="0"/>
              <a:t>. </a:t>
            </a:r>
            <a:r>
              <a:rPr lang="en-US" dirty="0" err="1"/>
              <a:t>Izin</a:t>
            </a:r>
            <a:r>
              <a:rPr lang="en-US" dirty="0"/>
              <a:t> </a:t>
            </a:r>
            <a:r>
              <a:rPr lang="en-US" dirty="0" err="1"/>
              <a:t>untuk</a:t>
            </a:r>
            <a:r>
              <a:rPr lang="en-US" dirty="0"/>
              <a:t> </a:t>
            </a:r>
            <a:r>
              <a:rPr lang="en-US" dirty="0" err="1"/>
              <a:t>memulai</a:t>
            </a:r>
            <a:r>
              <a:rPr lang="en-US" dirty="0"/>
              <a:t> </a:t>
            </a:r>
            <a:r>
              <a:rPr lang="en-US" dirty="0" err="1"/>
              <a:t>pembahasan</a:t>
            </a:r>
            <a:r>
              <a:rPr lang="en-US" dirty="0"/>
              <a:t> pada slide </a:t>
            </a:r>
            <a:r>
              <a:rPr lang="en-US" dirty="0" err="1"/>
              <a:t>berikutnya</a:t>
            </a:r>
            <a:r>
              <a:rPr lang="en-US" dirty="0"/>
              <a:t> </a:t>
            </a:r>
            <a:r>
              <a:rPr lang="en-US" dirty="0" err="1"/>
              <a:t>ya</a:t>
            </a:r>
            <a:r>
              <a:rPr lang="en-US"/>
              <a:t>, Pak.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DUA: LATAR BELAKANG MASALAH
Baik, mari kita masuk ke bagian pertama isi presentasi, yaitu Latar Belakang Masalah. Ada tiga isu fundamental yang mendorong penelitian ini.
POIN PERTAMA: Fenomena Information Helusinesyen atau Halusinasi Informasi pada model El-El-Em.
Di era kecerdasan buatan yang berkembang pesat ini, model-model Lardj Lengwidj Model seperti Ji-Pi-Ti dari Opin-Ei-Ai, atau Jemeni dari Gul, memang sangat mampu menghasilkan teks yang terdengar sangat meyakinkan dan fasih. Namun, ada satu kelemahan mendasar yang disebut Information Helusinesyen. Ini adalah kondisi di mana model menghasilkan jawaban yang secara linguistik terdengar benar, namun secara faktual bisa salah atau bahkan dikarang-karang sendiri oleh model. Mengapa ini bisa terjadi? Karena pengetahuan model tersimpan secara statis dalam parameter-parameternya, dan hanya mencakup data hingga batas waktu pelatihan, yang sering disebut Knowledge Catoff. Akibatnya, untuk pertanyaan yang membutuhkan fakta terkini atau sangat spesifik, model bisa dengan percaya diri memberikan jawaban yang menyesatkan.
POIN KEDUA: Posisi Bahasa Indonesia sebagai Lo Tu Mit Risors Lengwidj.
Dalam peta riset Natural Language Processing atau Niu-El-Pi secara global, bahasa-bahasa di dunia dibagi berdasarkan ketersediaan sumber dayanya. Bahasa Inggris, Mandarin, dan beberapa bahasa Eropa termasuk sebagai Hi Risors Lengwidj, bahasa dengan sumber daya melimpah. Sementara itu, Bahasa Indonesia masih termasuk dalam kategori Lo Tu Mit Risors Lengwidj. Ini berarti jumlah dataset teks berkualitas tinggi, model pra-latih yang tersedia, serta alat evaluasi untuk Bahasa Indonesia masih sangat terbatas dibandingkan bahasa-bahasa tersebut. Konsekuensinya, performa model kecerdasan buatan untuk Bahasa Indonesia di berbagai domain spesifik masih di bawah potensi optimalnya.
POIN KETIGA: Solusi melalui arsitektur Ritrival Ogmentid Jeneresyen atau Ar-A-Dji.
Untuk menjawab kedua tantangan tersebut, arsitektur Ar-A-Dji hadir sebagai terobosan yang sangat menjanjikan. Prinsip kerjanya adalah dengan menambahkan lapisan Information Ritrival sebelum proses generasi jawaban dilakukan. Secara sederhana, ketika pengguna mengajukan sebuah pertanyaan, sistem Ar-A-Dji tidak langsung menjawab dari memori internalnya. Sebaliknya, sistem akan terlebih dahulu mencari dan mengambil dokumen-dokumen yang paling relevan dari basis pengetahuan eksternal yang telah disiapkan. Dokumen-dokumen relevan tersebut kemudian diserahkan kepada model generatif sebagai konteks tambahan untuk menghasilkan jawaban yang jauh lebih akurat, faktual, dan dapat diverifikasi.
Ketiga poin inilah yang menjadi landasan kuat mengapa penelitian tentang Ar-A-Dji untuk Bahasa Indonesia sangat relevan dan penting untuk dilakukan saat ini.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TIGA: TINJAUAN PUSTAKA STET OF DI ART BAGIAN SATU
Selanjutnya, kita akan membahas tinjauan pustaka atau yang dalam literatur riset sering disebut Stet of di Art, disingkat Es-O-Te-A. Bagian ini sangat penting untuk memposisikan penelitian kita di antara penelitian-penelitian yang telah ada sebelumnya.
Pada slaid ini, saya akan memaparkan dua penelitian terdahulu yang paling relevan dengan topik saya.
PENELITIAN PERTAMA: Karya Tohir dan rekan-rekannya, yang diterbitkan pada tahun Dua Ribu Dua Puluh Empat.
Penelitian ini mengimplementasikan arsitektur Ar-A-Dji untuk Bahasa Indonesia menggunakan korpus Al-Qur'an tiga puluh juz sebagai basis pengetahuan. Metode yang digunakan adalah kombinasi antara Bi-Em-Dua-Lima untuk Sparse Retrieval dan Dens Ritrival untuk Semantic Retrieval.
Hasilnya cukup menggembirakan: model berhasil memberikan jawaban yang akurat untuk pertanyaan-pertanyaan seputar konten Al-Qur'an dan pengetahuan keislaman. Akurasi faktual meningkat secara signifikan dibandingkan model tanpa mekanisme retrieval.
Namun, penelitian ini memiliki satu keterbatasan mendasar yang menjadi celah penting bagi penelitian saya: homogenitas dataset. Seluruh basis pengetahuan hanya berasal dari satu sumber dan satu domain, yaitu teks Al-Qur'an. Penelitian ini belum sama sekali menguji bagaimana model berperforma ketika dihadapkan pada pertanyaan dari domain yang berbeda-beda secara bersamaan — sebuah kondisi yang dalam riset dikenal sebagai Kros-Domain skenario.
PENELITIAN KEDUA: Artikel dari Jurnal Tekomin yang diterbitkan pada tahun Dua Ribu Dua Puluh Lima.
Penelitian ini menawarkan pendekatan yang berbeda, yaitu menggunakan Semantik Embedding berbasis Sentens-Bert untuk mengevaluasi relevansi antara judul proposal tugas akhir mahasiswa secara otomatis. Perhitungan kemiripan dilakukan menggunakan Kosain Similariti.
Hasil yang dicapai cukup baik: akurasi penilaian berkisar antara tuju puluh hingga delapan puluh persen pada dataset yang diuji.
Akan tetapi, penelitian ini memiliki kelemahan yang sangat krusial dari sisi metodologi: ukuran sampel yang digunakan hanya dua puluh judul proposal saja. Ukuran sampel yang sekecil ini sangat membatasi kemampuan generalisasi dari kesimpulan yang dihasilkan. Kita tidak bisa dengan aman menyimpulkan bahwa akurasi tuju puluh hingga delapan puluh persen ini akan bertahan ketika diuji pada ratusan atau ribuan judul proposal dengan topik yang jauh lebih beragam.
Kedua keterbatasan dari penelitian-penelitian ini — homogenitas dataset dan skala sampel yang kecil — akan menjadi salah satu justifikasi utama mengapa penelitian saya perlu dilakukan. Namun sebelum itu, mari kita lihat satu penelitian terdahulu lagi di slaid berikutnya.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EMPAT: TINJAUAN PUSTAKA STET OF DI ART BAGIAN DUA
Masih dalam lingkup tinjauan pustaka, pada slaid ini saya akan membahas satu penelitian terdahulu lagi yang sangat relevan, yaitu dari Jurnal Infomedia yang diterbitkan pada tahun Dua Ribu Dua Puluh Lima.
Penelitian ini membangun sebuah sistem Cetbot, atau Chatbot, untuk menangani keluhan pelanggan PLN — Perusahaan Listrik Negara. Yang menarik dari penelitian ini adalah pemilihan teknologinya. Mereka mengimplementasikan arsitektur Ar-A-Dji menggunakan Lengcen sebagai orkestrasi rantai pemrosesan, dan Fais — yang merupakan singkatan dari Biut serta Indenks for Similiariti Serc — sebagai Vektor Stor untuk penyimpanan dan pencarian embedding secara lokal. Artinya, seluruh sistem berjalan di atas infrastruktur lokal tanpa bergantung pada Ei-Pi-Ai berbayar dari pihak ketiga — sebuah pendekatan yang sangat relevan untuk konteks pengembangan di Indonesia.
Dari sisi evaluasi kuantitatif, hasil penelitian ini cukup impresif. Skor Bliyu-Empat yang dicapai adalah empat puluh enam koma lima. Ini adalah metrik yang mengukur kualitas dan kelancaran teks yang dihasilkan oleh model dibandingkan teks referensi. Kemudian, skor Rug-El — yang merupakan singkatan dari Rikal Orineted Anderscoring for Justing atau Rus untuk Natur Lengwidj Jeneresyen, khususnya varian Longes Komon Sabsekuens — mencapai nol koma enam puluh tiga. Skor ini mengukur seberapa besar tumpang tindih antara jawaban model dan jawaban referensi, khususnya dari sisi urutan kata terpanjang yang sama. Dan yang sangat menonjol adalah tingkat kepuasan pengguna yang mencapai sembilan puluh dua persen.
Namun, ada satu kendala penting yang tetap teridentifikasi dalam penelitian ini: Nolidj Gep. Ketika pengguna mengajukan pertanyaan yang topiknya berada di luar cakupan dokumen yang ada dalam basis pengetahuan sistem, model mengalami kesulitan dan menghasilkan jawaban yang tidak akurat. Ini mengkonfirmasi bahwa kualitas dan cakupan basis pengetahuan adalah faktor yang sangat kritikal dalam sistem Ar-A-Dji.
Secara keseluruhan, dari tiga penelitian terdahulu yang telah saya paparkan, kita dapat melihat gambaran besar tentang apa yang sudah dicapai dan apa yang masih menjadi tantangan. Inilah yang akan kita bahas secara lebih mendalam pada slaid selanjutnya sebagai Riserc Gep.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LIMA: RISERC GEP DAN MASALAH KOMPUTASI
Setelah menelaah tiga penelitian terdahulu dengan seksama, kini saya dapat mengidentifikasi secara spesifik apa yang disebut sebagai Riserc Gep, atau celah penelitian. Ini adalah bagian yang sangat krusial dalam sebuah proposal penelitian, karena di sinilah kita membuktikan kebaruan dan relevansi penelitian kita.
RISERC GEP PERTAMA: Homogenitas Domain Dataset.
Ini adalah celah yang paling mencolok. Jika kita perhatikan ketiga penelitian terdahulu, semuanya menguji sistem mereka hanya dalam satu domain saja. Penelitian Tohir et al. menggunakan teks Al-Qur'an — satu domain keagamaan. Penelitian Infomedia menggunakan dokumen layanan PLN — satu domain layanan pelanggan energi. Penelitian Tekomin menggunakan judul-judul proposal dari satu institusi.
Pertanyaannya adalah: apakah sistem Ar-A-Dji yang dilatih dan dikonfigurasi untuk satu domain spesifik ini dapat mempertahankan performanya ketika dihadapkan pada pertanyaan dari domain yang sama sekali berbeda? Skenario ini, yang disebut Kros-Domain Jeneralisesyen, sama sekali belum dieksplorasi dalam literatur Ar-A-Dji Bahasa Indonesia yang ada. Inilah celah pertama yang penelitian saya akan isi.
RISERC GEP KEDUA: Ketergantungan pada Ei-Pi-Ai Berbayar dan Isu Letensi Multimodal.
Sebagian besar implementasi Ar-A-Dji yang ada, terutama di skala global, masih mengandalkan layanan Ei-Pi-Ai berbayar dari perusahaan besar seperti Opin-Ei-Ai atau Gul. Ini menimbulkan dua masalah serius untuk konteks penelitian di Indonesia: masalah biaya yang bisa menjadi penghalang bagi peneliti dengan anggaran terbatas, dan masalah privasi data karena dokumen sensitif harus dikirim ke server pihak ketiga di luar negeri.
Selain itu, riset terdahulu juga belum secara eksplisit mengukur letensi atau keterlambatan pemrosesan dalam pipeline Ar-A-Dji, khususnya untuk dokumen-dokumen multimodal yang mengandung teks, tabel, dan gambar sekaligus.
MASALAH KOMPUTASI UTAMA yang menjadi inti penelitian ini:
Dari kedua gap tersebut, lahirlah satu pertanyaan komputasi yang mendasar dan menjadi jantung dari penelitian saya, yaitu: Bagaimana cara merancang dan mengimplementasikan arsitektur Ar-A-Dji yang mampu beradaptasi secara otomatis terhadap domain data yang heterogen dan beragam, tanpa harus melakukan proses Fain-Tiuining ulang — yang membutuhkan biaya komputasi sangat tinggi — setiap kali bertemu dengan domain baru?
Jawaban atas pertanyaan inilah yang akan menjadi kontribusi utama penelitian saya.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ENAM: RUMUSAN MASALAH, HIPOTESIS, DAN TUJUAN PENELITIAN
Berdasarkan identifikasi Riserc Gep yang telah kita bahas di slaid sebelumnya, kini saya dapat merumuskan secara formal pertanyaan penelitian, hipotesis, dan tujuan yang ingin dicapai.
RUMUSAN MASALAH:
Rumusan masalah penelitian ini adalah: "Seberapa besar pengaruh penerapan metode Ritrival Ogmentid Jeneresyen terhadap kemampuan generalisasi Kros-Domain model Nejrel Lengwidj Prosesing Bahasa Indonesia?"
Ini adalah pertanyaan yang jelas, terukur, dan dapat dijawab secara empiris melalui eksperimen yang terstruktur.
TUJUAN PENELITIAN:
Tujuan utama penelitian ini adalah menganalisis pengaruh Ar-A-Dji secara kuantitatif menggunakan tiga metrik evaluasi standar: pertama, Akurasi — mengukur seberapa benar jawaban yang dihasilkan; kedua, Bliyu atau Bilingual Evaluation Understudy — mengukur kualitas dan kelancaran teks yang dihasilkan; dan ketiga, Rus atau Rikal-Orineted Anderscoring for Justing — mengukur kualitas ringkasan atau jawaban panjang.
Selain itu, hasil dari sistem Ar-A-Dji akan dibandingkan secara langsung dengan model Beslen — yaitu model serupa tanpa mekanisme Ar-A-Dji — untuk mengkuantifikasi seberapa besar peningkatan yang diberikan oleh arsitektur Ar-A-Dji.
Output konkret yang diharapkan dari penelitian ini adalah sebuah prototipe sistem Ar-A-Dji yang bersifat Opin-Sors, berbasis Bahasa Indonesia, dan dapat digunakan lintas domain tanpa memerlukan proses Fain-Tiuining ulang.
HIPOTESIS PENELITIAN:
Saya merumuskan dua hipotesis:
H-satu atau Hipotesis Alternatif menyatakan: Penerapan metode Ar-A-Dji berpengaruh positif dan signifikan terhadap kemampuan generalisasi Kros-Domain model Niu-El-Pi Bahasa Indonesia. Saya mengestimasi peningkatan performa minimal sepuluh hingga dua puluh persen pada seluruh metrik evaluasi dibandingkan model Beslen, dan ini dapat dicapai tanpa Fain-Tiuining ulang.
H-nol atau Hipotesis Null yang akan kita uji adalah: Tidak terdapat perbedaan yang signifikan secara statistik antara performa model Ar-A-Dji dan model Beslen.
Tentu saja, seluruh hipotesis ini akan diuji secara rigorous melalui metodologi penelitian yang akan saya jelaskan dalam laporan penelitian lengkap.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TUJUH: BATASAN PENELITIAN
Setiap penelitian yang baik harus memiliki batasan yang jelas dan terukur. Batasan ini bukan merupakan kelemahan, melainkan justru menunjukkan kecermatan dan kejujuran ilmiah dalam mendefinisikan ruang lingkup kerja. Berikut adalah tiga batasan utama dalam penelitian saya.
BATASAN PERTAMA: Cakupan Dataset.
Penelitian ini hanya akan menggunakan dataset teks Bahasa Indonesia dari empat domain yang telah saya tentukan, yaitu: Domain Akademik — mencakup teks jurnal ilmiah, proposal penelitian, dan laporan akademis; Domain Hukum — mencakup peraturan perundang-undangan, putusan pengadilan, dan dokumen hukum lainnya; Domain Kesehatan — mencakup literatur medis, panduan klinis, dan informasi kesehatan; serta Domain Layanan Publik — mencakup regulasi pemerintah, kebijakan publik, dan dokumentasi layanan masyarakat.
Dataset dari domain-domain lain seperti sastra, teknologi, atau hiburan secara eksplisit berada di luar cakupan penelitian ini. Pembatasan ini penting agar penelitian tetap fokus dan hasil evaluasinya dapat diinterpretasikan dengan tepat.
BATASAN KEDUA: Lingkungan Pengembangan dan Tools yang Digunakan.
Seluruh implementasi akan menggunakan bahasa pemrograman Paitedn atau Python, yang merupakan bahasa standar dalam ekosistem Machen Lerning dan Ai. Framework utama yang digunakan adalah Lengcen sebagai orkestrasi Ar-A-Dji Paiplayn — ini adalah framework yang sangat populer dan teruji untuk membangun sistem Ar-A-Dji yang kompleks.
Yang sangat penting untuk ditekankan adalah: seluruh eksperimen akan dijalankan pada komputasi lokal, disesuaikan dengan kapasitas Jipi-Yu atau Sipi-Yu yang tersedia. Ini secara eksplisit berarti bahwa penelitian ini tidak akan bergantung pada Ei-Pi-Ai berbayar dari pihak ketiga seperti Opin-Ei-Ai atau Gul, sehingga penelitian ini dapat direplikasi oleh peneliti lain dengan infrastruktur yang serupa.
BATASAN KETIGA: Ruang Lingkup Eksperimen.
Untuk menjaga fokus penelitian, eksperimen akan dibatasi pada eksplorasi dan optimasi empat parameter konfigurasi kunci dalam sistem Ar-A-Dji, yaitu: pertama, pemilihan Embedding Model — yaitu model yang mengubah teks menjadi vektor numerik; kedua, ukuran dan komposisi dataset per domain; ketiga, strategi Cangking dokumen — yaitu cara memecah dokumen panjang menjadi potongan-potongan yang lebih kecil, termasuk penentuan ukuran setiap potongan dan seberapa besar tumpang tindih antar potongan yang berurutan; dan keempat, nilai optimal Top-Ke Ritrival, yaitu berapa banyak potongan dokumen yang paling relevan yang akan diambil untuk setiap kueri yang masuk.
Eksperimen di luar keempat parameter ini, seperti modifikasi arsitektur model generatif atau fine-tuning embedding, berada di luar cakupan penelitian ini.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PRESENTER – SLAID DELAPAN: RENCANA KERJA PENELITIAN GENT CART DAN PENUTUP
Kita telah sampai pada slaid terakhir presentasi ini. Di sini saya akan memaparkan rencana kerja penelitian yang telah saya susun dalam bentuk Gent Cart, direncanakan selesai dalam jangka waktu empat bulan.
BULAN PERTAMA: Studi Literatur dan Pengumpulan Dataset Lintas Domain.
Pada bulan pertama ini, fokus utama saya adalah dua hal. Pertama, melakukan studi literatur yang lebih mendalam dan sistematis — mengumpulkan, membaca, dan mensintesis setidaknya dua puluh lima hingga tiga puluh jurnal dan artikel ilmiah yang relevan dari database seperti Gul Skolar, Arksiv, dan Simenntik Skoler. Kedua, secara paralel mulai mengidentifikasi, mengumpulkan, dan memvalidasi dataset teks Bahasa Indonesia dari keempat domain yang telah ditetapkan. Pada akhir bulan pertama, saya menargetkan tersedianya dataset awal yang siap untuk diproses lebih lanjut.
BULAN KEDUA: Pengumpulan Data dan Perancangan Arsitektur RAG.
Bulan kedua akan difokuskan pada penyempurnaan dataset dan, yang lebih penting, perancangan arsitektur sistem Ar-A-Dji secara detail. Ini mencakup pemilihan Embedding Model yang akan digunakan, penentuan Vektor Dabase untuk menyimpan representasi vektor dokumen, perancangan Ar-A-Dji Paiplayn menggunakan Lengcen, serta penentuan strategi Cangking dan konfigurasi Top-Ke Ritrival sebagai parameter awal eksperimen.
BULAN KETIGA: Implementasi Program, Pengujian, dan Evaluasi Metrik.
Ini adalah fase inti penelitian, di mana seluruh rancangan pada bulan kedua akan diwujudkan menjadi kode program yang berfungsi. Saya akan mengimplementasikan sistem Ar-A-Dji secara lengkap, kemudian melakukan serangkaian eksperimen dengan memvariasikan parameter-parameter yang telah ditentukan. Setiap kombinasi parameter akan dievaluasi menggunakan metrik Akurasi, Bliyu, dan Rus, dan hasilnya akan dibandingkan dengan model Beslen. Hasil eksperimen akan didokumentasikan secara sistematis.
BULAN KEEMPAT: Evaluasi Akhir dan Penyusunan Laporan Penelitian.
Bulan terakhir akan didedikasikan untuk menganalisis secara mendalam seluruh hasil eksperimen dari bulan ketiga, menarik kesimpulan yang valid dan bermakna, serta menyusun laporan penelitian yang komprehensif sesuai format akademis yang berlaku di STMIK Tazkia.
PENUTUP:
Demikianlah presentasi proposal UTS Metodologi Penelitian saya. Izinkan saya untuk merangkum poin-poin kunci dari apa yang telah saya paparkan:
Pertama, penelitian ini termotivasi oleh dua masalah nyata: fenomena Helusinesyen pada El-El-Em dan keterbatasan sumber daya Niu-El-Pi Bahasa Indonesia.
Kedua, dari tinjauan tiga penelitian terdahulu, saya mengidentifikasi dua Riserc Gep yang signifikan: tidak adanya pengujian Kros-Domain dan ketergantungan pada Ei-Pi-Ai berbayar.
Ketiga, penelitian ini akan menjawab celah tersebut dengan merancang sistem Ar-A-Dji yang adaptif terhadap domain heterogen menggunakan infrastruktur lokal berbasis Paitedn dan Lengcen.
Saya sangat berharap penelitian ini dapat memberikan kontribusi yang nyata dan bermakna bagi pengembangan teknologi kecerdasan buatan untuk Bahasa Indonesia, sekaligus membuka jalan bagi penelitian-penelitian lanjutan di masa depan.
Sekali lagi saya ucapkan terima kasih yang sebesar-besarnya kepada Bapak dan Ibu dosen penguji atas waktu, perhatian, dan bimbingannya. Saya dengan rendah hati membuka sesi tanya jawab. Apabila ada pertanyaan, masukan, atau saran yang bersifat konstruktif, saya siap untuk menjawab dan menerimanya dengan penuh rasa syukur.
Wassalamu'alaikum Warahmatullahi Wabarakatuh.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6858000" y="-91440"/>
            <a:ext cx="2926080" cy="2926080"/>
          </a:xfrm>
          <a:prstGeom prst="ellipse">
            <a:avLst/>
          </a:prstGeom>
          <a:solidFill>
            <a:srgbClr val="4FC3F7">
              <a:alpha val="9000"/>
            </a:srgbClr>
          </a:solidFill>
          <a:ln/>
        </p:spPr>
      </p:sp>
      <p:sp>
        <p:nvSpPr>
          <p:cNvPr id="5" name="Shape 3"/>
          <p:cNvSpPr/>
          <p:nvPr/>
        </p:nvSpPr>
        <p:spPr>
          <a:xfrm>
            <a:off x="-822960" y="3291840"/>
            <a:ext cx="2286000" cy="2286000"/>
          </a:xfrm>
          <a:prstGeom prst="ellipse">
            <a:avLst/>
          </a:prstGeom>
          <a:solidFill>
            <a:srgbClr val="F1C40F">
              <a:alpha val="11000"/>
            </a:srgbClr>
          </a:solidFill>
          <a:ln/>
        </p:spPr>
      </p:sp>
      <p:sp>
        <p:nvSpPr>
          <p:cNvPr id="6" name="Shape 4"/>
          <p:cNvSpPr/>
          <p:nvPr/>
        </p:nvSpPr>
        <p:spPr>
          <a:xfrm>
            <a:off x="457200" y="347472"/>
            <a:ext cx="2834640" cy="338328"/>
          </a:xfrm>
          <a:prstGeom prst="roundRect">
            <a:avLst>
              <a:gd name="adj" fmla="val 13514"/>
            </a:avLst>
          </a:prstGeom>
          <a:solidFill>
            <a:srgbClr val="F1C40F"/>
          </a:solidFill>
          <a:ln/>
        </p:spPr>
      </p:sp>
      <p:sp>
        <p:nvSpPr>
          <p:cNvPr id="7" name="Text 5"/>
          <p:cNvSpPr/>
          <p:nvPr/>
        </p:nvSpPr>
        <p:spPr>
          <a:xfrm>
            <a:off x="457200" y="347472"/>
            <a:ext cx="2834640" cy="338328"/>
          </a:xfrm>
          <a:prstGeom prst="rect">
            <a:avLst/>
          </a:prstGeom>
          <a:noFill/>
          <a:ln/>
        </p:spPr>
        <p:txBody>
          <a:bodyPr wrap="square" lIns="0" tIns="0" rIns="0" bIns="0" rtlCol="0" anchor="ctr"/>
          <a:lstStyle/>
          <a:p>
            <a:pPr marL="0" indent="0" algn="ctr">
              <a:buNone/>
            </a:pPr>
            <a:r>
              <a:rPr lang="en-US" sz="750" b="1" dirty="0">
                <a:solidFill>
                  <a:srgbClr val="0F2240"/>
                </a:solidFill>
                <a:latin typeface="Calibri" pitchFamily="34" charset="0"/>
                <a:ea typeface="Calibri" pitchFamily="34" charset="-122"/>
                <a:cs typeface="Calibri" pitchFamily="34" charset="-120"/>
              </a:rPr>
              <a:t>UTS — METODOLOGI PENELITIAN 2026</a:t>
            </a:r>
            <a:endParaRPr lang="en-US" sz="750" dirty="0"/>
          </a:p>
        </p:txBody>
      </p:sp>
      <p:sp>
        <p:nvSpPr>
          <p:cNvPr id="8" name="Text 6"/>
          <p:cNvSpPr/>
          <p:nvPr/>
        </p:nvSpPr>
        <p:spPr>
          <a:xfrm>
            <a:off x="457200" y="804672"/>
            <a:ext cx="8229600" cy="621792"/>
          </a:xfrm>
          <a:prstGeom prst="rect">
            <a:avLst/>
          </a:prstGeom>
          <a:noFill/>
          <a:ln/>
        </p:spPr>
        <p:txBody>
          <a:bodyPr wrap="square" lIns="0" tIns="0" rIns="0" bIns="0" rtlCol="0" anchor="b"/>
          <a:lstStyle/>
          <a:p>
            <a:pPr marL="0" indent="0">
              <a:buNone/>
            </a:pPr>
            <a:r>
              <a:rPr lang="en-US" sz="2300" b="1" dirty="0">
                <a:solidFill>
                  <a:srgbClr val="FFFFFF"/>
                </a:solidFill>
                <a:latin typeface="Calibri" pitchFamily="34" charset="0"/>
                <a:ea typeface="Calibri" pitchFamily="34" charset="-122"/>
                <a:cs typeface="Calibri" pitchFamily="34" charset="-120"/>
              </a:rPr>
              <a:t>Penerapan Metode Retrieval-Augmented Generation</a:t>
            </a:r>
            <a:endParaRPr lang="en-US" sz="2300" dirty="0"/>
          </a:p>
        </p:txBody>
      </p:sp>
      <p:sp>
        <p:nvSpPr>
          <p:cNvPr id="9" name="Text 7"/>
          <p:cNvSpPr/>
          <p:nvPr/>
        </p:nvSpPr>
        <p:spPr>
          <a:xfrm>
            <a:off x="457200" y="1426464"/>
            <a:ext cx="8229600" cy="475488"/>
          </a:xfrm>
          <a:prstGeom prst="rect">
            <a:avLst/>
          </a:prstGeom>
          <a:noFill/>
          <a:ln/>
        </p:spPr>
        <p:txBody>
          <a:bodyPr wrap="square" lIns="0" tIns="0" rIns="0" bIns="0" rtlCol="0" anchor="t"/>
          <a:lstStyle/>
          <a:p>
            <a:pPr marL="0" indent="0">
              <a:buNone/>
            </a:pPr>
            <a:r>
              <a:rPr lang="en-US" sz="1850" dirty="0">
                <a:solidFill>
                  <a:srgbClr val="DCDCDC"/>
                </a:solidFill>
                <a:latin typeface="Calibri" pitchFamily="34" charset="0"/>
                <a:ea typeface="Calibri" pitchFamily="34" charset="-122"/>
                <a:cs typeface="Calibri" pitchFamily="34" charset="-120"/>
              </a:rPr>
              <a:t>untuk Meningkatkan Kemampuan Generalisasi Model</a:t>
            </a:r>
            <a:endParaRPr lang="en-US" sz="1850" dirty="0"/>
          </a:p>
        </p:txBody>
      </p:sp>
      <p:sp>
        <p:nvSpPr>
          <p:cNvPr id="10" name="Text 8"/>
          <p:cNvSpPr/>
          <p:nvPr/>
        </p:nvSpPr>
        <p:spPr>
          <a:xfrm>
            <a:off x="457200" y="1901952"/>
            <a:ext cx="8229600" cy="457200"/>
          </a:xfrm>
          <a:prstGeom prst="rect">
            <a:avLst/>
          </a:prstGeom>
          <a:noFill/>
          <a:ln/>
        </p:spPr>
        <p:txBody>
          <a:bodyPr wrap="square" lIns="0" tIns="0" rIns="0" bIns="0" rtlCol="0" anchor="t"/>
          <a:lstStyle/>
          <a:p>
            <a:pPr marL="0" indent="0">
              <a:buNone/>
            </a:pPr>
            <a:r>
              <a:rPr lang="en-US" sz="1850" dirty="0">
                <a:solidFill>
                  <a:srgbClr val="DCDCDC"/>
                </a:solidFill>
                <a:latin typeface="Calibri" pitchFamily="34" charset="0"/>
                <a:ea typeface="Calibri" pitchFamily="34" charset="-122"/>
                <a:cs typeface="Calibri" pitchFamily="34" charset="-120"/>
              </a:rPr>
              <a:t>Natural Language Processing Bahasa Indonesia</a:t>
            </a:r>
            <a:endParaRPr lang="en-US" sz="1850" dirty="0"/>
          </a:p>
        </p:txBody>
      </p:sp>
      <p:sp>
        <p:nvSpPr>
          <p:cNvPr id="11" name="Text 9"/>
          <p:cNvSpPr/>
          <p:nvPr/>
        </p:nvSpPr>
        <p:spPr>
          <a:xfrm>
            <a:off x="457200" y="2359152"/>
            <a:ext cx="5486400" cy="420624"/>
          </a:xfrm>
          <a:prstGeom prst="rect">
            <a:avLst/>
          </a:prstGeom>
          <a:noFill/>
          <a:ln/>
        </p:spPr>
        <p:txBody>
          <a:bodyPr wrap="square" lIns="0" tIns="0" rIns="0" bIns="0" rtlCol="0" anchor="t"/>
          <a:lstStyle/>
          <a:p>
            <a:pPr marL="0" indent="0">
              <a:buNone/>
            </a:pPr>
            <a:r>
              <a:rPr lang="en-US" sz="1850" dirty="0">
                <a:solidFill>
                  <a:srgbClr val="4FC3F7"/>
                </a:solidFill>
                <a:latin typeface="Calibri" pitchFamily="34" charset="0"/>
                <a:ea typeface="Calibri" pitchFamily="34" charset="-122"/>
                <a:cs typeface="Calibri" pitchFamily="34" charset="-120"/>
              </a:rPr>
              <a:t>pada Berbagai Domain</a:t>
            </a:r>
            <a:endParaRPr lang="en-US" sz="1850" dirty="0"/>
          </a:p>
        </p:txBody>
      </p:sp>
      <p:sp>
        <p:nvSpPr>
          <p:cNvPr id="12" name="Shape 10"/>
          <p:cNvSpPr/>
          <p:nvPr/>
        </p:nvSpPr>
        <p:spPr>
          <a:xfrm>
            <a:off x="457200" y="2871216"/>
            <a:ext cx="8229600" cy="18288"/>
          </a:xfrm>
          <a:prstGeom prst="rect">
            <a:avLst/>
          </a:prstGeom>
          <a:solidFill>
            <a:srgbClr val="F1C40F">
              <a:alpha val="55000"/>
            </a:srgbClr>
          </a:solidFill>
          <a:ln/>
        </p:spPr>
      </p:sp>
      <p:sp>
        <p:nvSpPr>
          <p:cNvPr id="13" name="Text 11"/>
          <p:cNvSpPr/>
          <p:nvPr/>
        </p:nvSpPr>
        <p:spPr>
          <a:xfrm>
            <a:off x="457200" y="2962656"/>
            <a:ext cx="82296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Shanaya Balghis Riyona</a:t>
            </a:r>
            <a:r>
              <a:rPr lang="en-US" sz="1300" dirty="0">
                <a:solidFill>
                  <a:srgbClr val="8BAABF"/>
                </a:solidFill>
                <a:latin typeface="Calibri" pitchFamily="34" charset="0"/>
                <a:ea typeface="Calibri" pitchFamily="34" charset="-122"/>
                <a:cs typeface="Calibri" pitchFamily="34" charset="-120"/>
              </a:rPr>
              <a:t>   |   NIM: 241552010012</a:t>
            </a:r>
            <a:endParaRPr lang="en-US" sz="1400" dirty="0"/>
          </a:p>
        </p:txBody>
      </p:sp>
      <p:sp>
        <p:nvSpPr>
          <p:cNvPr id="14" name="Text 12"/>
          <p:cNvSpPr/>
          <p:nvPr/>
        </p:nvSpPr>
        <p:spPr>
          <a:xfrm>
            <a:off x="457200" y="3346704"/>
            <a:ext cx="8229600" cy="320040"/>
          </a:xfrm>
          <a:prstGeom prst="rect">
            <a:avLst/>
          </a:prstGeom>
          <a:noFill/>
          <a:ln/>
        </p:spPr>
        <p:txBody>
          <a:bodyPr wrap="square" lIns="0" tIns="0" rIns="0" bIns="0" rtlCol="0" anchor="ctr"/>
          <a:lstStyle/>
          <a:p>
            <a:pPr marL="0" indent="0">
              <a:buNone/>
            </a:pPr>
            <a:r>
              <a:rPr lang="en-US" sz="1100" dirty="0">
                <a:solidFill>
                  <a:srgbClr val="8BAABF"/>
                </a:solidFill>
                <a:latin typeface="Calibri" pitchFamily="34" charset="0"/>
                <a:ea typeface="Calibri" pitchFamily="34" charset="-122"/>
                <a:cs typeface="Calibri" pitchFamily="34" charset="-120"/>
              </a:rPr>
              <a:t>Program Studi Teknik Informatika   ·   STMIK Tazkia   ·   2026</a:t>
            </a:r>
            <a:endParaRPr lang="en-US" sz="1100" dirty="0"/>
          </a:p>
        </p:txBody>
      </p:sp>
      <p:sp>
        <p:nvSpPr>
          <p:cNvPr id="15" name="Shape 13"/>
          <p:cNvSpPr/>
          <p:nvPr/>
        </p:nvSpPr>
        <p:spPr>
          <a:xfrm>
            <a:off x="457200" y="3840480"/>
            <a:ext cx="1536192" cy="283464"/>
          </a:xfrm>
          <a:prstGeom prst="roundRect">
            <a:avLst>
              <a:gd name="adj" fmla="val 19355"/>
            </a:avLst>
          </a:prstGeom>
          <a:solidFill>
            <a:srgbClr val="0D1C36"/>
          </a:solidFill>
          <a:ln w="10160">
            <a:solidFill>
              <a:srgbClr val="4FC3F7"/>
            </a:solidFill>
            <a:prstDash val="solid"/>
          </a:ln>
        </p:spPr>
      </p:sp>
      <p:sp>
        <p:nvSpPr>
          <p:cNvPr id="16" name="Text 14"/>
          <p:cNvSpPr/>
          <p:nvPr/>
        </p:nvSpPr>
        <p:spPr>
          <a:xfrm>
            <a:off x="457200" y="3840480"/>
            <a:ext cx="1536192" cy="283464"/>
          </a:xfrm>
          <a:prstGeom prst="rect">
            <a:avLst/>
          </a:prstGeom>
          <a:noFill/>
          <a:ln/>
        </p:spPr>
        <p:txBody>
          <a:bodyPr wrap="square" lIns="0" tIns="0" rIns="0" bIns="0" rtlCol="0" anchor="ctr"/>
          <a:lstStyle/>
          <a:p>
            <a:pPr marL="0" indent="0" algn="ctr">
              <a:buNone/>
            </a:pPr>
            <a:r>
              <a:rPr lang="en-US" sz="950" dirty="0">
                <a:solidFill>
                  <a:srgbClr val="4FC3F7"/>
                </a:solidFill>
                <a:latin typeface="Calibri" pitchFamily="34" charset="0"/>
                <a:ea typeface="Calibri" pitchFamily="34" charset="-122"/>
                <a:cs typeface="Calibri" pitchFamily="34" charset="-120"/>
              </a:rPr>
              <a:t>RAG</a:t>
            </a:r>
            <a:endParaRPr lang="en-US" sz="950" dirty="0"/>
          </a:p>
        </p:txBody>
      </p:sp>
      <p:sp>
        <p:nvSpPr>
          <p:cNvPr id="17" name="Shape 15"/>
          <p:cNvSpPr/>
          <p:nvPr/>
        </p:nvSpPr>
        <p:spPr>
          <a:xfrm>
            <a:off x="2121408" y="3840480"/>
            <a:ext cx="1536192" cy="283464"/>
          </a:xfrm>
          <a:prstGeom prst="roundRect">
            <a:avLst>
              <a:gd name="adj" fmla="val 19355"/>
            </a:avLst>
          </a:prstGeom>
          <a:solidFill>
            <a:srgbClr val="0D1C36"/>
          </a:solidFill>
          <a:ln w="10160">
            <a:solidFill>
              <a:srgbClr val="4FC3F7"/>
            </a:solidFill>
            <a:prstDash val="solid"/>
          </a:ln>
        </p:spPr>
      </p:sp>
      <p:sp>
        <p:nvSpPr>
          <p:cNvPr id="18" name="Text 16"/>
          <p:cNvSpPr/>
          <p:nvPr/>
        </p:nvSpPr>
        <p:spPr>
          <a:xfrm>
            <a:off x="2121408" y="3840480"/>
            <a:ext cx="1536192" cy="283464"/>
          </a:xfrm>
          <a:prstGeom prst="rect">
            <a:avLst/>
          </a:prstGeom>
          <a:noFill/>
          <a:ln/>
        </p:spPr>
        <p:txBody>
          <a:bodyPr wrap="square" lIns="0" tIns="0" rIns="0" bIns="0" rtlCol="0" anchor="ctr"/>
          <a:lstStyle/>
          <a:p>
            <a:pPr marL="0" indent="0" algn="ctr">
              <a:buNone/>
            </a:pPr>
            <a:r>
              <a:rPr lang="en-US" sz="950" dirty="0">
                <a:solidFill>
                  <a:srgbClr val="4FC3F7"/>
                </a:solidFill>
                <a:latin typeface="Calibri" pitchFamily="34" charset="0"/>
                <a:ea typeface="Calibri" pitchFamily="34" charset="-122"/>
                <a:cs typeface="Calibri" pitchFamily="34" charset="-120"/>
              </a:rPr>
              <a:t>LLM</a:t>
            </a:r>
            <a:endParaRPr lang="en-US" sz="950" dirty="0"/>
          </a:p>
        </p:txBody>
      </p:sp>
      <p:sp>
        <p:nvSpPr>
          <p:cNvPr id="19" name="Shape 17"/>
          <p:cNvSpPr/>
          <p:nvPr/>
        </p:nvSpPr>
        <p:spPr>
          <a:xfrm>
            <a:off x="3785616" y="3840480"/>
            <a:ext cx="1536192" cy="283464"/>
          </a:xfrm>
          <a:prstGeom prst="roundRect">
            <a:avLst>
              <a:gd name="adj" fmla="val 19355"/>
            </a:avLst>
          </a:prstGeom>
          <a:solidFill>
            <a:srgbClr val="0D1C36"/>
          </a:solidFill>
          <a:ln w="10160">
            <a:solidFill>
              <a:srgbClr val="4FC3F7"/>
            </a:solidFill>
            <a:prstDash val="solid"/>
          </a:ln>
        </p:spPr>
      </p:sp>
      <p:sp>
        <p:nvSpPr>
          <p:cNvPr id="20" name="Text 18"/>
          <p:cNvSpPr/>
          <p:nvPr/>
        </p:nvSpPr>
        <p:spPr>
          <a:xfrm>
            <a:off x="3785616" y="3840480"/>
            <a:ext cx="1536192" cy="283464"/>
          </a:xfrm>
          <a:prstGeom prst="rect">
            <a:avLst/>
          </a:prstGeom>
          <a:noFill/>
          <a:ln/>
        </p:spPr>
        <p:txBody>
          <a:bodyPr wrap="square" lIns="0" tIns="0" rIns="0" bIns="0" rtlCol="0" anchor="ctr"/>
          <a:lstStyle/>
          <a:p>
            <a:pPr marL="0" indent="0" algn="ctr">
              <a:buNone/>
            </a:pPr>
            <a:r>
              <a:rPr lang="en-US" sz="950" dirty="0">
                <a:solidFill>
                  <a:srgbClr val="4FC3F7"/>
                </a:solidFill>
                <a:latin typeface="Calibri" pitchFamily="34" charset="0"/>
                <a:ea typeface="Calibri" pitchFamily="34" charset="-122"/>
                <a:cs typeface="Calibri" pitchFamily="34" charset="-120"/>
              </a:rPr>
              <a:t>NLP</a:t>
            </a:r>
            <a:endParaRPr lang="en-US" sz="950" dirty="0"/>
          </a:p>
        </p:txBody>
      </p:sp>
      <p:sp>
        <p:nvSpPr>
          <p:cNvPr id="21" name="Shape 19"/>
          <p:cNvSpPr/>
          <p:nvPr/>
        </p:nvSpPr>
        <p:spPr>
          <a:xfrm>
            <a:off x="5449824" y="3840480"/>
            <a:ext cx="1536192" cy="283464"/>
          </a:xfrm>
          <a:prstGeom prst="roundRect">
            <a:avLst>
              <a:gd name="adj" fmla="val 19355"/>
            </a:avLst>
          </a:prstGeom>
          <a:solidFill>
            <a:srgbClr val="0D1C36"/>
          </a:solidFill>
          <a:ln w="10160">
            <a:solidFill>
              <a:srgbClr val="4FC3F7"/>
            </a:solidFill>
            <a:prstDash val="solid"/>
          </a:ln>
        </p:spPr>
      </p:sp>
      <p:sp>
        <p:nvSpPr>
          <p:cNvPr id="22" name="Text 20"/>
          <p:cNvSpPr/>
          <p:nvPr/>
        </p:nvSpPr>
        <p:spPr>
          <a:xfrm>
            <a:off x="5449824" y="3840480"/>
            <a:ext cx="1536192" cy="283464"/>
          </a:xfrm>
          <a:prstGeom prst="rect">
            <a:avLst/>
          </a:prstGeom>
          <a:noFill/>
          <a:ln/>
        </p:spPr>
        <p:txBody>
          <a:bodyPr wrap="square" lIns="0" tIns="0" rIns="0" bIns="0" rtlCol="0" anchor="ctr"/>
          <a:lstStyle/>
          <a:p>
            <a:pPr marL="0" indent="0" algn="ctr">
              <a:buNone/>
            </a:pPr>
            <a:r>
              <a:rPr lang="en-US" sz="950" dirty="0">
                <a:solidFill>
                  <a:srgbClr val="4FC3F7"/>
                </a:solidFill>
                <a:latin typeface="Calibri" pitchFamily="34" charset="0"/>
                <a:ea typeface="Calibri" pitchFamily="34" charset="-122"/>
                <a:cs typeface="Calibri" pitchFamily="34" charset="-120"/>
              </a:rPr>
              <a:t>Cross-Domain</a:t>
            </a:r>
            <a:endParaRPr lang="en-US" sz="950" dirty="0"/>
          </a:p>
        </p:txBody>
      </p:sp>
      <p:sp>
        <p:nvSpPr>
          <p:cNvPr id="23" name="Shape 21"/>
          <p:cNvSpPr/>
          <p:nvPr/>
        </p:nvSpPr>
        <p:spPr>
          <a:xfrm>
            <a:off x="7114032" y="3840480"/>
            <a:ext cx="1536192" cy="283464"/>
          </a:xfrm>
          <a:prstGeom prst="roundRect">
            <a:avLst>
              <a:gd name="adj" fmla="val 19355"/>
            </a:avLst>
          </a:prstGeom>
          <a:solidFill>
            <a:srgbClr val="0D1C36"/>
          </a:solidFill>
          <a:ln w="10160">
            <a:solidFill>
              <a:srgbClr val="4FC3F7"/>
            </a:solidFill>
            <a:prstDash val="solid"/>
          </a:ln>
        </p:spPr>
      </p:sp>
      <p:sp>
        <p:nvSpPr>
          <p:cNvPr id="24" name="Text 22"/>
          <p:cNvSpPr/>
          <p:nvPr/>
        </p:nvSpPr>
        <p:spPr>
          <a:xfrm>
            <a:off x="7114032" y="3840480"/>
            <a:ext cx="1536192" cy="283464"/>
          </a:xfrm>
          <a:prstGeom prst="rect">
            <a:avLst/>
          </a:prstGeom>
          <a:noFill/>
          <a:ln/>
        </p:spPr>
        <p:txBody>
          <a:bodyPr wrap="square" lIns="0" tIns="0" rIns="0" bIns="0" rtlCol="0" anchor="ctr"/>
          <a:lstStyle/>
          <a:p>
            <a:pPr marL="0" indent="0" algn="ctr">
              <a:buNone/>
            </a:pPr>
            <a:r>
              <a:rPr lang="en-US" sz="950" dirty="0">
                <a:solidFill>
                  <a:srgbClr val="4FC3F7"/>
                </a:solidFill>
                <a:latin typeface="Calibri" pitchFamily="34" charset="0"/>
                <a:ea typeface="Calibri" pitchFamily="34" charset="-122"/>
                <a:cs typeface="Calibri" pitchFamily="34" charset="-120"/>
              </a:rPr>
              <a:t>Bahasa Indonesia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Latar Belakang Masalah</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987552"/>
            <a:ext cx="8503920" cy="1097280"/>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987552"/>
            <a:ext cx="64008" cy="1097280"/>
          </a:xfrm>
          <a:prstGeom prst="rect">
            <a:avLst/>
          </a:prstGeom>
          <a:solidFill>
            <a:srgbClr val="4FC3F7"/>
          </a:solidFill>
          <a:ln/>
        </p:spPr>
      </p:sp>
      <p:sp>
        <p:nvSpPr>
          <p:cNvPr id="9" name="Shape 7"/>
          <p:cNvSpPr/>
          <p:nvPr/>
        </p:nvSpPr>
        <p:spPr>
          <a:xfrm>
            <a:off x="630936" y="1197864"/>
            <a:ext cx="676656" cy="676656"/>
          </a:xfrm>
          <a:prstGeom prst="ellipse">
            <a:avLst/>
          </a:prstGeom>
          <a:solidFill>
            <a:srgbClr val="4FC3F7">
              <a:alpha val="82000"/>
            </a:srgbClr>
          </a:solidFill>
          <a:ln w="15240">
            <a:solidFill>
              <a:srgbClr val="4FC3F7"/>
            </a:solidFill>
            <a:prstDash val="solid"/>
          </a:ln>
        </p:spPr>
      </p:sp>
      <p:sp>
        <p:nvSpPr>
          <p:cNvPr id="10" name="Text 8"/>
          <p:cNvSpPr/>
          <p:nvPr/>
        </p:nvSpPr>
        <p:spPr>
          <a:xfrm>
            <a:off x="630936" y="1197864"/>
            <a:ext cx="676656" cy="676656"/>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01</a:t>
            </a:r>
            <a:endParaRPr lang="en-US" sz="1500" dirty="0"/>
          </a:p>
        </p:txBody>
      </p:sp>
      <p:sp>
        <p:nvSpPr>
          <p:cNvPr id="11" name="Text 9"/>
          <p:cNvSpPr/>
          <p:nvPr/>
        </p:nvSpPr>
        <p:spPr>
          <a:xfrm>
            <a:off x="1463040" y="1078992"/>
            <a:ext cx="7223760" cy="29260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Information Hallucination pada Large Language Models (LLM)</a:t>
            </a:r>
            <a:endParaRPr lang="en-US" sz="1300" dirty="0"/>
          </a:p>
        </p:txBody>
      </p:sp>
      <p:sp>
        <p:nvSpPr>
          <p:cNvPr id="12" name="Text 10"/>
          <p:cNvSpPr/>
          <p:nvPr/>
        </p:nvSpPr>
        <p:spPr>
          <a:xfrm>
            <a:off x="1463040" y="1389888"/>
            <a:ext cx="7223760" cy="603504"/>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Model-model LLM generasi terbaru seperti GPT dan Gemini rentan menghasilkan informasi yang terdengar meyakinkan namun faktanya tidak akurat — fenomena ini dikenal sebagai Information Hallucination. Penyebabnya adalah pengetahuan model yang terbatas hanya pada data pelatihan statis.</a:t>
            </a:r>
            <a:endParaRPr lang="en-US" sz="1100" dirty="0"/>
          </a:p>
        </p:txBody>
      </p:sp>
      <p:sp>
        <p:nvSpPr>
          <p:cNvPr id="13" name="Shape 11"/>
          <p:cNvSpPr/>
          <p:nvPr/>
        </p:nvSpPr>
        <p:spPr>
          <a:xfrm>
            <a:off x="320040" y="2240280"/>
            <a:ext cx="8503920" cy="1097280"/>
          </a:xfrm>
          <a:prstGeom prst="rect">
            <a:avLst/>
          </a:prstGeom>
          <a:solidFill>
            <a:srgbClr val="162B50"/>
          </a:solidFill>
          <a:ln/>
          <a:effectLst>
            <a:outerShdw blurRad="63500" dist="25400" dir="8100000" algn="bl" rotWithShape="0">
              <a:srgbClr val="000000">
                <a:alpha val="18000"/>
              </a:srgbClr>
            </a:outerShdw>
          </a:effectLst>
        </p:spPr>
      </p:sp>
      <p:sp>
        <p:nvSpPr>
          <p:cNvPr id="14" name="Shape 12"/>
          <p:cNvSpPr/>
          <p:nvPr/>
        </p:nvSpPr>
        <p:spPr>
          <a:xfrm>
            <a:off x="320040" y="2240280"/>
            <a:ext cx="64008" cy="1097280"/>
          </a:xfrm>
          <a:prstGeom prst="rect">
            <a:avLst/>
          </a:prstGeom>
          <a:solidFill>
            <a:srgbClr val="F1C40F"/>
          </a:solidFill>
          <a:ln/>
        </p:spPr>
      </p:sp>
      <p:sp>
        <p:nvSpPr>
          <p:cNvPr id="15" name="Shape 13"/>
          <p:cNvSpPr/>
          <p:nvPr/>
        </p:nvSpPr>
        <p:spPr>
          <a:xfrm>
            <a:off x="630936" y="2450592"/>
            <a:ext cx="676656" cy="676656"/>
          </a:xfrm>
          <a:prstGeom prst="ellipse">
            <a:avLst/>
          </a:prstGeom>
          <a:solidFill>
            <a:srgbClr val="F1C40F">
              <a:alpha val="82000"/>
            </a:srgbClr>
          </a:solidFill>
          <a:ln w="15240">
            <a:solidFill>
              <a:srgbClr val="F1C40F"/>
            </a:solidFill>
            <a:prstDash val="solid"/>
          </a:ln>
        </p:spPr>
      </p:sp>
      <p:sp>
        <p:nvSpPr>
          <p:cNvPr id="16" name="Text 14"/>
          <p:cNvSpPr/>
          <p:nvPr/>
        </p:nvSpPr>
        <p:spPr>
          <a:xfrm>
            <a:off x="630936" y="2450592"/>
            <a:ext cx="676656" cy="676656"/>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02</a:t>
            </a:r>
            <a:endParaRPr lang="en-US" sz="1500" dirty="0"/>
          </a:p>
        </p:txBody>
      </p:sp>
      <p:sp>
        <p:nvSpPr>
          <p:cNvPr id="17" name="Text 15"/>
          <p:cNvSpPr/>
          <p:nvPr/>
        </p:nvSpPr>
        <p:spPr>
          <a:xfrm>
            <a:off x="1463040" y="2331720"/>
            <a:ext cx="7223760" cy="292608"/>
          </a:xfrm>
          <a:prstGeom prst="rect">
            <a:avLst/>
          </a:prstGeom>
          <a:noFill/>
          <a:ln/>
        </p:spPr>
        <p:txBody>
          <a:bodyPr wrap="square" lIns="0" tIns="0" rIns="0" bIns="0" rtlCol="0" anchor="ctr"/>
          <a:lstStyle/>
          <a:p>
            <a:pPr marL="0" indent="0">
              <a:buNone/>
            </a:pPr>
            <a:r>
              <a:rPr lang="en-US" sz="1300" b="1" dirty="0">
                <a:solidFill>
                  <a:srgbClr val="F1C40F"/>
                </a:solidFill>
                <a:latin typeface="Calibri" pitchFamily="34" charset="0"/>
                <a:ea typeface="Calibri" pitchFamily="34" charset="-122"/>
                <a:cs typeface="Calibri" pitchFamily="34" charset="-120"/>
              </a:rPr>
              <a:t>Bahasa Indonesia: Low-to-Mid Resource Language</a:t>
            </a:r>
            <a:endParaRPr lang="en-US" sz="1300" dirty="0"/>
          </a:p>
        </p:txBody>
      </p:sp>
      <p:sp>
        <p:nvSpPr>
          <p:cNvPr id="18" name="Text 16"/>
          <p:cNvSpPr/>
          <p:nvPr/>
        </p:nvSpPr>
        <p:spPr>
          <a:xfrm>
            <a:off x="1463040" y="2642616"/>
            <a:ext cx="7223760" cy="603504"/>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Dalam peta riset NLP global, Bahasa Indonesia masih dikategorikan sebagai Low-to-Mid Resource Language. Artinya, ketersediaan dataset berkualitas tinggi jauh lebih terbatas dibanding Bahasa Inggris, sehingga performa model NLP untuk Bahasa Indonesia masih belum optimal di berbagai domain.</a:t>
            </a:r>
            <a:endParaRPr lang="en-US" sz="1100" dirty="0"/>
          </a:p>
        </p:txBody>
      </p:sp>
      <p:sp>
        <p:nvSpPr>
          <p:cNvPr id="19" name="Shape 17"/>
          <p:cNvSpPr/>
          <p:nvPr/>
        </p:nvSpPr>
        <p:spPr>
          <a:xfrm>
            <a:off x="320040" y="3493008"/>
            <a:ext cx="8503920" cy="1097280"/>
          </a:xfrm>
          <a:prstGeom prst="rect">
            <a:avLst/>
          </a:prstGeom>
          <a:solidFill>
            <a:srgbClr val="162B50"/>
          </a:solidFill>
          <a:ln/>
          <a:effectLst>
            <a:outerShdw blurRad="63500" dist="25400" dir="8100000" algn="bl" rotWithShape="0">
              <a:srgbClr val="000000">
                <a:alpha val="18000"/>
              </a:srgbClr>
            </a:outerShdw>
          </a:effectLst>
        </p:spPr>
      </p:sp>
      <p:sp>
        <p:nvSpPr>
          <p:cNvPr id="20" name="Shape 18"/>
          <p:cNvSpPr/>
          <p:nvPr/>
        </p:nvSpPr>
        <p:spPr>
          <a:xfrm>
            <a:off x="320040" y="3493008"/>
            <a:ext cx="64008" cy="1097280"/>
          </a:xfrm>
          <a:prstGeom prst="rect">
            <a:avLst/>
          </a:prstGeom>
          <a:solidFill>
            <a:srgbClr val="2ECC71"/>
          </a:solidFill>
          <a:ln/>
        </p:spPr>
      </p:sp>
      <p:sp>
        <p:nvSpPr>
          <p:cNvPr id="21" name="Shape 19"/>
          <p:cNvSpPr/>
          <p:nvPr/>
        </p:nvSpPr>
        <p:spPr>
          <a:xfrm>
            <a:off x="630936" y="3703320"/>
            <a:ext cx="676656" cy="676656"/>
          </a:xfrm>
          <a:prstGeom prst="ellipse">
            <a:avLst/>
          </a:prstGeom>
          <a:solidFill>
            <a:srgbClr val="2ECC71">
              <a:alpha val="82000"/>
            </a:srgbClr>
          </a:solidFill>
          <a:ln w="15240">
            <a:solidFill>
              <a:srgbClr val="2ECC71"/>
            </a:solidFill>
            <a:prstDash val="solid"/>
          </a:ln>
        </p:spPr>
      </p:sp>
      <p:sp>
        <p:nvSpPr>
          <p:cNvPr id="22" name="Text 20"/>
          <p:cNvSpPr/>
          <p:nvPr/>
        </p:nvSpPr>
        <p:spPr>
          <a:xfrm>
            <a:off x="630936" y="3703320"/>
            <a:ext cx="676656" cy="676656"/>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03</a:t>
            </a:r>
            <a:endParaRPr lang="en-US" sz="1500" dirty="0"/>
          </a:p>
        </p:txBody>
      </p:sp>
      <p:sp>
        <p:nvSpPr>
          <p:cNvPr id="23" name="Text 21"/>
          <p:cNvSpPr/>
          <p:nvPr/>
        </p:nvSpPr>
        <p:spPr>
          <a:xfrm>
            <a:off x="1463040" y="3584448"/>
            <a:ext cx="7223760" cy="292608"/>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Solusi: Arsitektur Retrieval-Augmented Generation (RAG)</a:t>
            </a:r>
            <a:endParaRPr lang="en-US" sz="1300" dirty="0"/>
          </a:p>
        </p:txBody>
      </p:sp>
      <p:sp>
        <p:nvSpPr>
          <p:cNvPr id="24" name="Text 22"/>
          <p:cNvSpPr/>
          <p:nvPr/>
        </p:nvSpPr>
        <p:spPr>
          <a:xfrm>
            <a:off x="1463040" y="3895344"/>
            <a:ext cx="7223760" cy="603504"/>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Arsitektur RAG hadir sebagai solusi yang menjanjikan. Dengan menggabungkan mekanisme Information Retrieval dan Generative AI, model dapat secara dinamis mengambil dokumen relevan dari basis pengetahuan eksternal sebelum menghasilkan jawaban — meningkatkan akurasi secara signifikan.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Tinjauan Pustaka — State of the Art (SOTA) I</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1005840"/>
            <a:ext cx="4206240" cy="3749040"/>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1005840"/>
            <a:ext cx="4206240" cy="475488"/>
          </a:xfrm>
          <a:prstGeom prst="rect">
            <a:avLst/>
          </a:prstGeom>
          <a:solidFill>
            <a:srgbClr val="0D1C36"/>
          </a:solidFill>
          <a:ln/>
        </p:spPr>
      </p:sp>
      <p:sp>
        <p:nvSpPr>
          <p:cNvPr id="9" name="Text 7"/>
          <p:cNvSpPr/>
          <p:nvPr/>
        </p:nvSpPr>
        <p:spPr>
          <a:xfrm>
            <a:off x="438912" y="1005840"/>
            <a:ext cx="3968496" cy="475488"/>
          </a:xfrm>
          <a:prstGeom prst="rect">
            <a:avLst/>
          </a:prstGeom>
          <a:noFill/>
          <a:ln/>
        </p:spPr>
        <p:txBody>
          <a:bodyPr wrap="square" lIns="0" tIns="0" rIns="0" bIns="0" rtlCol="0" anchor="ctr"/>
          <a:lstStyle/>
          <a:p>
            <a:pPr marL="0" indent="0">
              <a:buNone/>
            </a:pPr>
            <a:r>
              <a:rPr lang="en-US" sz="1200" b="1" dirty="0">
                <a:solidFill>
                  <a:srgbClr val="4FC3F7"/>
                </a:solidFill>
                <a:latin typeface="Calibri" pitchFamily="34" charset="0"/>
                <a:ea typeface="Calibri" pitchFamily="34" charset="-122"/>
                <a:cs typeface="Calibri" pitchFamily="34" charset="-120"/>
              </a:rPr>
              <a:t>📄  Tohir et al. (2024)</a:t>
            </a:r>
            <a:endParaRPr lang="en-US" sz="1200" dirty="0"/>
          </a:p>
        </p:txBody>
      </p:sp>
      <p:sp>
        <p:nvSpPr>
          <p:cNvPr id="10" name="Text 8"/>
          <p:cNvSpPr/>
          <p:nvPr/>
        </p:nvSpPr>
        <p:spPr>
          <a:xfrm>
            <a:off x="457200" y="1572768"/>
            <a:ext cx="393192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Judul: </a:t>
            </a:r>
            <a:r>
              <a:rPr lang="en-US" sz="1100" dirty="0">
                <a:solidFill>
                  <a:srgbClr val="DCDCDC"/>
                </a:solidFill>
                <a:latin typeface="Calibri" pitchFamily="34" charset="0"/>
                <a:ea typeface="Calibri" pitchFamily="34" charset="-122"/>
                <a:cs typeface="Calibri" pitchFamily="34" charset="-120"/>
              </a:rPr>
              <a:t>Implementasi RAG Bahasa Indonesia dengan korpus Al-Qur'an 30 Juz</a:t>
            </a:r>
            <a:endParaRPr lang="en-US" sz="1100" dirty="0"/>
          </a:p>
        </p:txBody>
      </p:sp>
      <p:sp>
        <p:nvSpPr>
          <p:cNvPr id="11" name="Text 9"/>
          <p:cNvSpPr/>
          <p:nvPr/>
        </p:nvSpPr>
        <p:spPr>
          <a:xfrm>
            <a:off x="457200" y="2249424"/>
            <a:ext cx="393192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Metode: </a:t>
            </a:r>
            <a:r>
              <a:rPr lang="en-US" sz="1100" dirty="0">
                <a:solidFill>
                  <a:srgbClr val="DCDCDC"/>
                </a:solidFill>
                <a:latin typeface="Calibri" pitchFamily="34" charset="0"/>
                <a:ea typeface="Calibri" pitchFamily="34" charset="-122"/>
                <a:cs typeface="Calibri" pitchFamily="34" charset="-120"/>
              </a:rPr>
              <a:t>Retrieval-Augmented Generation + BM25 + Dense Retrieval</a:t>
            </a:r>
            <a:endParaRPr lang="en-US" sz="1100" dirty="0"/>
          </a:p>
        </p:txBody>
      </p:sp>
      <p:sp>
        <p:nvSpPr>
          <p:cNvPr id="12" name="Text 10"/>
          <p:cNvSpPr/>
          <p:nvPr/>
        </p:nvSpPr>
        <p:spPr>
          <a:xfrm>
            <a:off x="457200" y="2926080"/>
            <a:ext cx="393192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Hasil: </a:t>
            </a:r>
            <a:r>
              <a:rPr lang="en-US" sz="1100" dirty="0">
                <a:solidFill>
                  <a:srgbClr val="DCDCDC"/>
                </a:solidFill>
                <a:latin typeface="Calibri" pitchFamily="34" charset="0"/>
                <a:ea typeface="Calibri" pitchFamily="34" charset="-122"/>
                <a:cs typeface="Calibri" pitchFamily="34" charset="-120"/>
              </a:rPr>
              <a:t>Performa baik untuk domain keagamaan Islam, akurasi faktual meningkat signifikan</a:t>
            </a:r>
            <a:endParaRPr lang="en-US" sz="1100" dirty="0"/>
          </a:p>
        </p:txBody>
      </p:sp>
      <p:sp>
        <p:nvSpPr>
          <p:cNvPr id="13" name="Text 11"/>
          <p:cNvSpPr/>
          <p:nvPr/>
        </p:nvSpPr>
        <p:spPr>
          <a:xfrm>
            <a:off x="457200" y="3602736"/>
            <a:ext cx="393192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 Keterbatasan: </a:t>
            </a:r>
            <a:r>
              <a:rPr lang="en-US" sz="1100" dirty="0">
                <a:solidFill>
                  <a:srgbClr val="DCDCDC"/>
                </a:solidFill>
                <a:latin typeface="Calibri" pitchFamily="34" charset="0"/>
                <a:ea typeface="Calibri" pitchFamily="34" charset="-122"/>
                <a:cs typeface="Calibri" pitchFamily="34" charset="-120"/>
              </a:rPr>
              <a:t>Homogenitas dataset — hanya satu domain, belum diuji lintas domain (Cross-Domain)</a:t>
            </a:r>
            <a:endParaRPr lang="en-US" sz="1100" dirty="0"/>
          </a:p>
        </p:txBody>
      </p:sp>
      <p:sp>
        <p:nvSpPr>
          <p:cNvPr id="14" name="Shape 12"/>
          <p:cNvSpPr/>
          <p:nvPr/>
        </p:nvSpPr>
        <p:spPr>
          <a:xfrm>
            <a:off x="4709160" y="1005840"/>
            <a:ext cx="4114800" cy="3749040"/>
          </a:xfrm>
          <a:prstGeom prst="rect">
            <a:avLst/>
          </a:prstGeom>
          <a:solidFill>
            <a:srgbClr val="162B50"/>
          </a:solidFill>
          <a:ln/>
          <a:effectLst>
            <a:outerShdw blurRad="63500" dist="25400" dir="8100000" algn="bl" rotWithShape="0">
              <a:srgbClr val="000000">
                <a:alpha val="18000"/>
              </a:srgbClr>
            </a:outerShdw>
          </a:effectLst>
        </p:spPr>
      </p:sp>
      <p:sp>
        <p:nvSpPr>
          <p:cNvPr id="15" name="Shape 13"/>
          <p:cNvSpPr/>
          <p:nvPr/>
        </p:nvSpPr>
        <p:spPr>
          <a:xfrm>
            <a:off x="4709160" y="1005840"/>
            <a:ext cx="4114800" cy="475488"/>
          </a:xfrm>
          <a:prstGeom prst="rect">
            <a:avLst/>
          </a:prstGeom>
          <a:solidFill>
            <a:srgbClr val="0D1C36"/>
          </a:solidFill>
          <a:ln/>
        </p:spPr>
      </p:sp>
      <p:sp>
        <p:nvSpPr>
          <p:cNvPr id="16" name="Text 14"/>
          <p:cNvSpPr/>
          <p:nvPr/>
        </p:nvSpPr>
        <p:spPr>
          <a:xfrm>
            <a:off x="4828032" y="1005840"/>
            <a:ext cx="3877056" cy="475488"/>
          </a:xfrm>
          <a:prstGeom prst="rect">
            <a:avLst/>
          </a:prstGeom>
          <a:noFill/>
          <a:ln/>
        </p:spPr>
        <p:txBody>
          <a:bodyPr wrap="square" lIns="0" tIns="0" rIns="0" bIns="0" rtlCol="0" anchor="ctr"/>
          <a:lstStyle/>
          <a:p>
            <a:pPr marL="0" indent="0">
              <a:buNone/>
            </a:pPr>
            <a:r>
              <a:rPr lang="en-US" sz="1200" b="1" dirty="0">
                <a:solidFill>
                  <a:srgbClr val="F1C40F"/>
                </a:solidFill>
                <a:latin typeface="Calibri" pitchFamily="34" charset="0"/>
                <a:ea typeface="Calibri" pitchFamily="34" charset="-122"/>
                <a:cs typeface="Calibri" pitchFamily="34" charset="-120"/>
              </a:rPr>
              <a:t>📄  Jurnal Tekomin (2025)</a:t>
            </a:r>
            <a:endParaRPr lang="en-US" sz="1200" dirty="0"/>
          </a:p>
        </p:txBody>
      </p:sp>
      <p:sp>
        <p:nvSpPr>
          <p:cNvPr id="17" name="Text 15"/>
          <p:cNvSpPr/>
          <p:nvPr/>
        </p:nvSpPr>
        <p:spPr>
          <a:xfrm>
            <a:off x="4828032" y="1572768"/>
            <a:ext cx="388620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Judul: </a:t>
            </a:r>
            <a:r>
              <a:rPr lang="en-US" sz="1100" dirty="0">
                <a:solidFill>
                  <a:srgbClr val="DCDCDC"/>
                </a:solidFill>
                <a:latin typeface="Calibri" pitchFamily="34" charset="0"/>
                <a:ea typeface="Calibri" pitchFamily="34" charset="-122"/>
                <a:cs typeface="Calibri" pitchFamily="34" charset="-120"/>
              </a:rPr>
              <a:t>Evaluasi otomatis proposal tugas akhir menggunakan Semantic Embedding</a:t>
            </a:r>
            <a:endParaRPr lang="en-US" sz="1100" dirty="0"/>
          </a:p>
        </p:txBody>
      </p:sp>
      <p:sp>
        <p:nvSpPr>
          <p:cNvPr id="18" name="Text 16"/>
          <p:cNvSpPr/>
          <p:nvPr/>
        </p:nvSpPr>
        <p:spPr>
          <a:xfrm>
            <a:off x="4828032" y="2249424"/>
            <a:ext cx="388620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Metode: </a:t>
            </a:r>
            <a:r>
              <a:rPr lang="en-US" sz="1100" dirty="0">
                <a:solidFill>
                  <a:srgbClr val="DCDCDC"/>
                </a:solidFill>
                <a:latin typeface="Calibri" pitchFamily="34" charset="0"/>
                <a:ea typeface="Calibri" pitchFamily="34" charset="-122"/>
                <a:cs typeface="Calibri" pitchFamily="34" charset="-120"/>
              </a:rPr>
              <a:t>Cosine Similarity berbasis Sentence-BERT untuk penilaian relevansi topik</a:t>
            </a:r>
            <a:endParaRPr lang="en-US" sz="1100" dirty="0"/>
          </a:p>
        </p:txBody>
      </p:sp>
      <p:sp>
        <p:nvSpPr>
          <p:cNvPr id="19" name="Text 17"/>
          <p:cNvSpPr/>
          <p:nvPr/>
        </p:nvSpPr>
        <p:spPr>
          <a:xfrm>
            <a:off x="4828032" y="2926080"/>
            <a:ext cx="388620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Hasil: </a:t>
            </a:r>
            <a:r>
              <a:rPr lang="en-US" sz="1100" dirty="0">
                <a:solidFill>
                  <a:srgbClr val="DCDCDC"/>
                </a:solidFill>
                <a:latin typeface="Calibri" pitchFamily="34" charset="0"/>
                <a:ea typeface="Calibri" pitchFamily="34" charset="-122"/>
                <a:cs typeface="Calibri" pitchFamily="34" charset="-120"/>
              </a:rPr>
              <a:t>Akurasi penilaian 70%–80% pada 20 judul proposal yang diuji</a:t>
            </a:r>
            <a:endParaRPr lang="en-US" sz="1100" dirty="0"/>
          </a:p>
        </p:txBody>
      </p:sp>
      <p:sp>
        <p:nvSpPr>
          <p:cNvPr id="20" name="Text 18"/>
          <p:cNvSpPr/>
          <p:nvPr/>
        </p:nvSpPr>
        <p:spPr>
          <a:xfrm>
            <a:off x="4828032" y="3602736"/>
            <a:ext cx="3886200" cy="548640"/>
          </a:xfrm>
          <a:prstGeom prst="rect">
            <a:avLst/>
          </a:prstGeom>
          <a:noFill/>
          <a:ln/>
        </p:spPr>
        <p:txBody>
          <a:bodyPr wrap="square" rtlCol="0" anchor="t"/>
          <a:lstStyle/>
          <a:p>
            <a:pPr marL="0" indent="0">
              <a:buNone/>
            </a:pPr>
            <a:r>
              <a:rPr lang="en-US" sz="1100" b="1" dirty="0">
                <a:solidFill>
                  <a:srgbClr val="F1C40F"/>
                </a:solidFill>
                <a:latin typeface="Calibri" pitchFamily="34" charset="0"/>
                <a:ea typeface="Calibri" pitchFamily="34" charset="-122"/>
                <a:cs typeface="Calibri" pitchFamily="34" charset="-120"/>
              </a:rPr>
              <a:t>⚠ Keterbatasan: </a:t>
            </a:r>
            <a:r>
              <a:rPr lang="en-US" sz="1100" dirty="0">
                <a:solidFill>
                  <a:srgbClr val="DCDCDC"/>
                </a:solidFill>
                <a:latin typeface="Calibri" pitchFamily="34" charset="0"/>
                <a:ea typeface="Calibri" pitchFamily="34" charset="-122"/>
                <a:cs typeface="Calibri" pitchFamily="34" charset="-120"/>
              </a:rPr>
              <a:t>Skala sampel yang sangat kecil (20 judul) — generalisasi hasil masih perlu dikonfirmasi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Tinjauan Pustaka — State of the Art (SOTA) II</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1005840"/>
            <a:ext cx="8503920" cy="2103120"/>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1005840"/>
            <a:ext cx="8503920" cy="475488"/>
          </a:xfrm>
          <a:prstGeom prst="rect">
            <a:avLst/>
          </a:prstGeom>
          <a:solidFill>
            <a:srgbClr val="0D1C36"/>
          </a:solidFill>
          <a:ln/>
        </p:spPr>
      </p:sp>
      <p:sp>
        <p:nvSpPr>
          <p:cNvPr id="9" name="Text 7"/>
          <p:cNvSpPr/>
          <p:nvPr/>
        </p:nvSpPr>
        <p:spPr>
          <a:xfrm>
            <a:off x="457200" y="1005840"/>
            <a:ext cx="8229600" cy="47548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  Jurnal Infomedia (2025) — Chatbot RAG untuk Layanan Pelanggan PLN</a:t>
            </a:r>
            <a:endParaRPr lang="en-US" sz="1300" dirty="0"/>
          </a:p>
        </p:txBody>
      </p:sp>
      <p:sp>
        <p:nvSpPr>
          <p:cNvPr id="10" name="Text 8"/>
          <p:cNvSpPr/>
          <p:nvPr/>
        </p:nvSpPr>
        <p:spPr>
          <a:xfrm>
            <a:off x="457200" y="1572768"/>
            <a:ext cx="8229600" cy="475488"/>
          </a:xfrm>
          <a:prstGeom prst="rect">
            <a:avLst/>
          </a:prstGeom>
          <a:noFill/>
          <a:ln/>
        </p:spPr>
        <p:txBody>
          <a:bodyPr wrap="square" rtlCol="0" anchor="t"/>
          <a:lstStyle/>
          <a:p>
            <a:pPr marL="0" indent="0">
              <a:buNone/>
            </a:pPr>
            <a:r>
              <a:rPr lang="en-US" sz="1200" b="1" dirty="0">
                <a:solidFill>
                  <a:srgbClr val="F1C40F"/>
                </a:solidFill>
                <a:latin typeface="Calibri" pitchFamily="34" charset="0"/>
                <a:ea typeface="Calibri" pitchFamily="34" charset="-122"/>
                <a:cs typeface="Calibri" pitchFamily="34" charset="-120"/>
              </a:rPr>
              <a:t>Metode:  </a:t>
            </a:r>
            <a:r>
              <a:rPr lang="en-US" sz="1200" dirty="0">
                <a:solidFill>
                  <a:srgbClr val="DCDCDC"/>
                </a:solidFill>
                <a:latin typeface="Calibri" pitchFamily="34" charset="0"/>
                <a:ea typeface="Calibri" pitchFamily="34" charset="-122"/>
                <a:cs typeface="Calibri" pitchFamily="34" charset="-120"/>
              </a:rPr>
              <a:t>RAG dengan LangChain dan FAISS Vector Store yang berjalan secara lokal (tanpa API berbayar)</a:t>
            </a:r>
            <a:endParaRPr lang="en-US" sz="1200" dirty="0"/>
          </a:p>
        </p:txBody>
      </p:sp>
      <p:sp>
        <p:nvSpPr>
          <p:cNvPr id="11" name="Text 9"/>
          <p:cNvSpPr/>
          <p:nvPr/>
        </p:nvSpPr>
        <p:spPr>
          <a:xfrm>
            <a:off x="457200" y="2048256"/>
            <a:ext cx="8229600" cy="475488"/>
          </a:xfrm>
          <a:prstGeom prst="rect">
            <a:avLst/>
          </a:prstGeom>
          <a:noFill/>
          <a:ln/>
        </p:spPr>
        <p:txBody>
          <a:bodyPr wrap="square" rtlCol="0" anchor="t"/>
          <a:lstStyle/>
          <a:p>
            <a:pPr marL="0" indent="0">
              <a:buNone/>
            </a:pPr>
            <a:r>
              <a:rPr lang="en-US" sz="1200" b="1" dirty="0">
                <a:solidFill>
                  <a:srgbClr val="F1C40F"/>
                </a:solidFill>
                <a:latin typeface="Calibri" pitchFamily="34" charset="0"/>
                <a:ea typeface="Calibri" pitchFamily="34" charset="-122"/>
                <a:cs typeface="Calibri" pitchFamily="34" charset="-120"/>
              </a:rPr>
              <a:t>Hasil:  </a:t>
            </a:r>
            <a:r>
              <a:rPr lang="en-US" sz="1200" dirty="0">
                <a:solidFill>
                  <a:srgbClr val="DCDCDC"/>
                </a:solidFill>
                <a:latin typeface="Calibri" pitchFamily="34" charset="0"/>
                <a:ea typeface="Calibri" pitchFamily="34" charset="-122"/>
                <a:cs typeface="Calibri" pitchFamily="34" charset="-120"/>
              </a:rPr>
              <a:t>BLEU-4: 46.5  |  ROUGE-L: 0.63  |  Tingkat kepuasan pengguna: 92%</a:t>
            </a:r>
            <a:endParaRPr lang="en-US" sz="1200" dirty="0"/>
          </a:p>
        </p:txBody>
      </p:sp>
      <p:sp>
        <p:nvSpPr>
          <p:cNvPr id="12" name="Text 10"/>
          <p:cNvSpPr/>
          <p:nvPr/>
        </p:nvSpPr>
        <p:spPr>
          <a:xfrm>
            <a:off x="457200" y="2523744"/>
            <a:ext cx="8229600" cy="475488"/>
          </a:xfrm>
          <a:prstGeom prst="rect">
            <a:avLst/>
          </a:prstGeom>
          <a:noFill/>
          <a:ln/>
        </p:spPr>
        <p:txBody>
          <a:bodyPr wrap="square" rtlCol="0" anchor="t"/>
          <a:lstStyle/>
          <a:p>
            <a:pPr marL="0" indent="0">
              <a:buNone/>
            </a:pPr>
            <a:r>
              <a:rPr lang="en-US" sz="1200" b="1" dirty="0">
                <a:solidFill>
                  <a:srgbClr val="F1C40F"/>
                </a:solidFill>
                <a:latin typeface="Calibri" pitchFamily="34" charset="0"/>
                <a:ea typeface="Calibri" pitchFamily="34" charset="-122"/>
                <a:cs typeface="Calibri" pitchFamily="34" charset="-120"/>
              </a:rPr>
              <a:t>⚠ Kendala:  </a:t>
            </a:r>
            <a:r>
              <a:rPr lang="en-US" sz="1200" dirty="0">
                <a:solidFill>
                  <a:srgbClr val="DCDCDC"/>
                </a:solidFill>
                <a:latin typeface="Calibri" pitchFamily="34" charset="0"/>
                <a:ea typeface="Calibri" pitchFamily="34" charset="-122"/>
                <a:cs typeface="Calibri" pitchFamily="34" charset="-120"/>
              </a:rPr>
              <a:t>Knowledge Gap pada pertanyaan di luar cakupan basis data — model gagal menjawab dengan akurat</a:t>
            </a:r>
            <a:endParaRPr lang="en-US" sz="1200" dirty="0"/>
          </a:p>
        </p:txBody>
      </p:sp>
      <p:sp>
        <p:nvSpPr>
          <p:cNvPr id="13" name="Shape 11"/>
          <p:cNvSpPr/>
          <p:nvPr/>
        </p:nvSpPr>
        <p:spPr>
          <a:xfrm>
            <a:off x="320040" y="3291840"/>
            <a:ext cx="2011680" cy="1463040"/>
          </a:xfrm>
          <a:prstGeom prst="rect">
            <a:avLst/>
          </a:prstGeom>
          <a:solidFill>
            <a:srgbClr val="0D1C36"/>
          </a:solidFill>
          <a:ln w="10160">
            <a:solidFill>
              <a:srgbClr val="00B4D8"/>
            </a:solidFill>
            <a:prstDash val="solid"/>
          </a:ln>
          <a:effectLst>
            <a:outerShdw blurRad="63500" dist="25400" dir="8100000" algn="bl" rotWithShape="0">
              <a:srgbClr val="000000">
                <a:alpha val="18000"/>
              </a:srgbClr>
            </a:outerShdw>
          </a:effectLst>
        </p:spPr>
      </p:sp>
      <p:sp>
        <p:nvSpPr>
          <p:cNvPr id="14" name="Text 12"/>
          <p:cNvSpPr/>
          <p:nvPr/>
        </p:nvSpPr>
        <p:spPr>
          <a:xfrm>
            <a:off x="411480" y="3337560"/>
            <a:ext cx="1828800" cy="274320"/>
          </a:xfrm>
          <a:prstGeom prst="rect">
            <a:avLst/>
          </a:prstGeom>
          <a:noFill/>
          <a:ln/>
        </p:spPr>
        <p:txBody>
          <a:bodyPr wrap="square" lIns="0" tIns="0" rIns="0" bIns="0" rtlCol="0" anchor="ctr"/>
          <a:lstStyle/>
          <a:p>
            <a:pPr marL="0" indent="0" algn="ctr">
              <a:buNone/>
            </a:pPr>
            <a:r>
              <a:rPr lang="en-US" sz="950" b="1" dirty="0">
                <a:solidFill>
                  <a:srgbClr val="00B4D8"/>
                </a:solidFill>
                <a:latin typeface="Calibri" pitchFamily="34" charset="0"/>
                <a:ea typeface="Calibri" pitchFamily="34" charset="-122"/>
                <a:cs typeface="Calibri" pitchFamily="34" charset="-120"/>
              </a:rPr>
              <a:t>BLEU-4 Score</a:t>
            </a:r>
            <a:endParaRPr lang="en-US" sz="950" dirty="0"/>
          </a:p>
        </p:txBody>
      </p:sp>
      <p:sp>
        <p:nvSpPr>
          <p:cNvPr id="15" name="Text 13"/>
          <p:cNvSpPr/>
          <p:nvPr/>
        </p:nvSpPr>
        <p:spPr>
          <a:xfrm>
            <a:off x="411480" y="3639312"/>
            <a:ext cx="18288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46.5</a:t>
            </a:r>
            <a:endParaRPr lang="en-US" sz="2600" dirty="0"/>
          </a:p>
        </p:txBody>
      </p:sp>
      <p:sp>
        <p:nvSpPr>
          <p:cNvPr id="16" name="Text 14"/>
          <p:cNvSpPr/>
          <p:nvPr/>
        </p:nvSpPr>
        <p:spPr>
          <a:xfrm>
            <a:off x="411480" y="4206240"/>
            <a:ext cx="1828800" cy="411480"/>
          </a:xfrm>
          <a:prstGeom prst="rect">
            <a:avLst/>
          </a:prstGeom>
          <a:noFill/>
          <a:ln/>
        </p:spPr>
        <p:txBody>
          <a:bodyPr wrap="square" lIns="0" tIns="0" rIns="0" bIns="0" rtlCol="0" anchor="t"/>
          <a:lstStyle/>
          <a:p>
            <a:pPr marL="0" indent="0" algn="ctr">
              <a:buNone/>
            </a:pPr>
            <a:r>
              <a:rPr lang="en-US" sz="900" dirty="0">
                <a:solidFill>
                  <a:srgbClr val="8BAABF"/>
                </a:solidFill>
                <a:latin typeface="Calibri" pitchFamily="34" charset="0"/>
                <a:ea typeface="Calibri" pitchFamily="34" charset="-122"/>
                <a:cs typeface="Calibri" pitchFamily="34" charset="-120"/>
              </a:rPr>
              <a:t>Kualitas Fluensi Teks</a:t>
            </a:r>
            <a:endParaRPr lang="en-US" sz="900" dirty="0"/>
          </a:p>
        </p:txBody>
      </p:sp>
      <p:sp>
        <p:nvSpPr>
          <p:cNvPr id="17" name="Shape 15"/>
          <p:cNvSpPr/>
          <p:nvPr/>
        </p:nvSpPr>
        <p:spPr>
          <a:xfrm>
            <a:off x="2468880" y="3291840"/>
            <a:ext cx="2011680" cy="1463040"/>
          </a:xfrm>
          <a:prstGeom prst="rect">
            <a:avLst/>
          </a:prstGeom>
          <a:solidFill>
            <a:srgbClr val="0D1C36"/>
          </a:solidFill>
          <a:ln w="10160">
            <a:solidFill>
              <a:srgbClr val="2ECC71"/>
            </a:solidFill>
            <a:prstDash val="solid"/>
          </a:ln>
          <a:effectLst>
            <a:outerShdw blurRad="63500" dist="25400" dir="8100000" algn="bl" rotWithShape="0">
              <a:srgbClr val="000000">
                <a:alpha val="18000"/>
              </a:srgbClr>
            </a:outerShdw>
          </a:effectLst>
        </p:spPr>
      </p:sp>
      <p:sp>
        <p:nvSpPr>
          <p:cNvPr id="18" name="Text 16"/>
          <p:cNvSpPr/>
          <p:nvPr/>
        </p:nvSpPr>
        <p:spPr>
          <a:xfrm>
            <a:off x="2560320" y="3337560"/>
            <a:ext cx="1828800" cy="274320"/>
          </a:xfrm>
          <a:prstGeom prst="rect">
            <a:avLst/>
          </a:prstGeom>
          <a:noFill/>
          <a:ln/>
        </p:spPr>
        <p:txBody>
          <a:bodyPr wrap="square" lIns="0" tIns="0" rIns="0" bIns="0" rtlCol="0" anchor="ctr"/>
          <a:lstStyle/>
          <a:p>
            <a:pPr marL="0" indent="0" algn="ctr">
              <a:buNone/>
            </a:pPr>
            <a:r>
              <a:rPr lang="en-US" sz="950" b="1" dirty="0">
                <a:solidFill>
                  <a:srgbClr val="2ECC71"/>
                </a:solidFill>
                <a:latin typeface="Calibri" pitchFamily="34" charset="0"/>
                <a:ea typeface="Calibri" pitchFamily="34" charset="-122"/>
                <a:cs typeface="Calibri" pitchFamily="34" charset="-120"/>
              </a:rPr>
              <a:t>ROUGE-L Score</a:t>
            </a:r>
            <a:endParaRPr lang="en-US" sz="950" dirty="0"/>
          </a:p>
        </p:txBody>
      </p:sp>
      <p:sp>
        <p:nvSpPr>
          <p:cNvPr id="19" name="Text 17"/>
          <p:cNvSpPr/>
          <p:nvPr/>
        </p:nvSpPr>
        <p:spPr>
          <a:xfrm>
            <a:off x="2560320" y="3639312"/>
            <a:ext cx="18288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0.63</a:t>
            </a:r>
            <a:endParaRPr lang="en-US" sz="2600" dirty="0"/>
          </a:p>
        </p:txBody>
      </p:sp>
      <p:sp>
        <p:nvSpPr>
          <p:cNvPr id="20" name="Text 18"/>
          <p:cNvSpPr/>
          <p:nvPr/>
        </p:nvSpPr>
        <p:spPr>
          <a:xfrm>
            <a:off x="2560320" y="4206240"/>
            <a:ext cx="1828800" cy="411480"/>
          </a:xfrm>
          <a:prstGeom prst="rect">
            <a:avLst/>
          </a:prstGeom>
          <a:noFill/>
          <a:ln/>
        </p:spPr>
        <p:txBody>
          <a:bodyPr wrap="square" lIns="0" tIns="0" rIns="0" bIns="0" rtlCol="0" anchor="t"/>
          <a:lstStyle/>
          <a:p>
            <a:pPr marL="0" indent="0" algn="ctr">
              <a:buNone/>
            </a:pPr>
            <a:r>
              <a:rPr lang="en-US" sz="900" dirty="0">
                <a:solidFill>
                  <a:srgbClr val="8BAABF"/>
                </a:solidFill>
                <a:latin typeface="Calibri" pitchFamily="34" charset="0"/>
                <a:ea typeface="Calibri" pitchFamily="34" charset="-122"/>
                <a:cs typeface="Calibri" pitchFamily="34" charset="-120"/>
              </a:rPr>
              <a:t>Kualitas Rangkuman</a:t>
            </a:r>
            <a:endParaRPr lang="en-US" sz="900" dirty="0"/>
          </a:p>
        </p:txBody>
      </p:sp>
      <p:sp>
        <p:nvSpPr>
          <p:cNvPr id="21" name="Shape 19"/>
          <p:cNvSpPr/>
          <p:nvPr/>
        </p:nvSpPr>
        <p:spPr>
          <a:xfrm>
            <a:off x="4617720" y="3291840"/>
            <a:ext cx="2011680" cy="1463040"/>
          </a:xfrm>
          <a:prstGeom prst="rect">
            <a:avLst/>
          </a:prstGeom>
          <a:solidFill>
            <a:srgbClr val="0D1C36"/>
          </a:solidFill>
          <a:ln w="10160">
            <a:solidFill>
              <a:srgbClr val="F1C40F"/>
            </a:solidFill>
            <a:prstDash val="solid"/>
          </a:ln>
          <a:effectLst>
            <a:outerShdw blurRad="63500" dist="25400" dir="8100000" algn="bl" rotWithShape="0">
              <a:srgbClr val="000000">
                <a:alpha val="18000"/>
              </a:srgbClr>
            </a:outerShdw>
          </a:effectLst>
        </p:spPr>
      </p:sp>
      <p:sp>
        <p:nvSpPr>
          <p:cNvPr id="22" name="Text 20"/>
          <p:cNvSpPr/>
          <p:nvPr/>
        </p:nvSpPr>
        <p:spPr>
          <a:xfrm>
            <a:off x="4709160" y="3337560"/>
            <a:ext cx="1828800" cy="274320"/>
          </a:xfrm>
          <a:prstGeom prst="rect">
            <a:avLst/>
          </a:prstGeom>
          <a:noFill/>
          <a:ln/>
        </p:spPr>
        <p:txBody>
          <a:bodyPr wrap="square" lIns="0" tIns="0" rIns="0" bIns="0" rtlCol="0" anchor="ctr"/>
          <a:lstStyle/>
          <a:p>
            <a:pPr marL="0" indent="0" algn="ctr">
              <a:buNone/>
            </a:pPr>
            <a:r>
              <a:rPr lang="en-US" sz="950" b="1" dirty="0">
                <a:solidFill>
                  <a:srgbClr val="F1C40F"/>
                </a:solidFill>
                <a:latin typeface="Calibri" pitchFamily="34" charset="0"/>
                <a:ea typeface="Calibri" pitchFamily="34" charset="-122"/>
                <a:cs typeface="Calibri" pitchFamily="34" charset="-120"/>
              </a:rPr>
              <a:t>Kepuasan Pengguna</a:t>
            </a:r>
            <a:endParaRPr lang="en-US" sz="950" dirty="0"/>
          </a:p>
        </p:txBody>
      </p:sp>
      <p:sp>
        <p:nvSpPr>
          <p:cNvPr id="23" name="Text 21"/>
          <p:cNvSpPr/>
          <p:nvPr/>
        </p:nvSpPr>
        <p:spPr>
          <a:xfrm>
            <a:off x="4709160" y="3639312"/>
            <a:ext cx="18288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92%</a:t>
            </a:r>
            <a:endParaRPr lang="en-US" sz="2600" dirty="0"/>
          </a:p>
        </p:txBody>
      </p:sp>
      <p:sp>
        <p:nvSpPr>
          <p:cNvPr id="24" name="Text 22"/>
          <p:cNvSpPr/>
          <p:nvPr/>
        </p:nvSpPr>
        <p:spPr>
          <a:xfrm>
            <a:off x="4709160" y="4206240"/>
            <a:ext cx="1828800" cy="411480"/>
          </a:xfrm>
          <a:prstGeom prst="rect">
            <a:avLst/>
          </a:prstGeom>
          <a:noFill/>
          <a:ln/>
        </p:spPr>
        <p:txBody>
          <a:bodyPr wrap="square" lIns="0" tIns="0" rIns="0" bIns="0" rtlCol="0" anchor="t"/>
          <a:lstStyle/>
          <a:p>
            <a:pPr marL="0" indent="0" algn="ctr">
              <a:buNone/>
            </a:pPr>
            <a:r>
              <a:rPr lang="en-US" sz="900" dirty="0">
                <a:solidFill>
                  <a:srgbClr val="8BAABF"/>
                </a:solidFill>
                <a:latin typeface="Calibri" pitchFamily="34" charset="0"/>
                <a:ea typeface="Calibri" pitchFamily="34" charset="-122"/>
                <a:cs typeface="Calibri" pitchFamily="34" charset="-120"/>
              </a:rPr>
              <a:t>User Satisfaction Rate</a:t>
            </a:r>
            <a:endParaRPr lang="en-US" sz="900" dirty="0"/>
          </a:p>
        </p:txBody>
      </p:sp>
      <p:sp>
        <p:nvSpPr>
          <p:cNvPr id="25" name="Shape 23"/>
          <p:cNvSpPr/>
          <p:nvPr/>
        </p:nvSpPr>
        <p:spPr>
          <a:xfrm>
            <a:off x="6766560" y="3291840"/>
            <a:ext cx="2011680" cy="1463040"/>
          </a:xfrm>
          <a:prstGeom prst="rect">
            <a:avLst/>
          </a:prstGeom>
          <a:solidFill>
            <a:srgbClr val="0D1C36"/>
          </a:solidFill>
          <a:ln w="10160">
            <a:solidFill>
              <a:srgbClr val="E67E22"/>
            </a:solidFill>
            <a:prstDash val="solid"/>
          </a:ln>
          <a:effectLst>
            <a:outerShdw blurRad="63500" dist="25400" dir="8100000" algn="bl" rotWithShape="0">
              <a:srgbClr val="000000">
                <a:alpha val="18000"/>
              </a:srgbClr>
            </a:outerShdw>
          </a:effectLst>
        </p:spPr>
      </p:sp>
      <p:sp>
        <p:nvSpPr>
          <p:cNvPr id="26" name="Text 24"/>
          <p:cNvSpPr/>
          <p:nvPr/>
        </p:nvSpPr>
        <p:spPr>
          <a:xfrm>
            <a:off x="6858000" y="3337560"/>
            <a:ext cx="1828800" cy="274320"/>
          </a:xfrm>
          <a:prstGeom prst="rect">
            <a:avLst/>
          </a:prstGeom>
          <a:noFill/>
          <a:ln/>
        </p:spPr>
        <p:txBody>
          <a:bodyPr wrap="square" lIns="0" tIns="0" rIns="0" bIns="0" rtlCol="0" anchor="ctr"/>
          <a:lstStyle/>
          <a:p>
            <a:pPr marL="0" indent="0" algn="ctr">
              <a:buNone/>
            </a:pPr>
            <a:r>
              <a:rPr lang="en-US" sz="950" b="1" dirty="0">
                <a:solidFill>
                  <a:srgbClr val="E67E22"/>
                </a:solidFill>
                <a:latin typeface="Calibri" pitchFamily="34" charset="0"/>
                <a:ea typeface="Calibri" pitchFamily="34" charset="-122"/>
                <a:cs typeface="Calibri" pitchFamily="34" charset="-120"/>
              </a:rPr>
              <a:t>Gap Teridentifikasi</a:t>
            </a:r>
            <a:endParaRPr lang="en-US" sz="950" dirty="0"/>
          </a:p>
        </p:txBody>
      </p:sp>
      <p:sp>
        <p:nvSpPr>
          <p:cNvPr id="27" name="Text 25"/>
          <p:cNvSpPr/>
          <p:nvPr/>
        </p:nvSpPr>
        <p:spPr>
          <a:xfrm>
            <a:off x="6858000" y="3639312"/>
            <a:ext cx="182880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 Isu</a:t>
            </a:r>
            <a:endParaRPr lang="en-US" sz="2600" dirty="0"/>
          </a:p>
        </p:txBody>
      </p:sp>
      <p:sp>
        <p:nvSpPr>
          <p:cNvPr id="28" name="Text 26"/>
          <p:cNvSpPr/>
          <p:nvPr/>
        </p:nvSpPr>
        <p:spPr>
          <a:xfrm>
            <a:off x="6858000" y="4206240"/>
            <a:ext cx="1828800" cy="411480"/>
          </a:xfrm>
          <a:prstGeom prst="rect">
            <a:avLst/>
          </a:prstGeom>
          <a:noFill/>
          <a:ln/>
        </p:spPr>
        <p:txBody>
          <a:bodyPr wrap="square" lIns="0" tIns="0" rIns="0" bIns="0" rtlCol="0" anchor="t"/>
          <a:lstStyle/>
          <a:p>
            <a:pPr marL="0" indent="0" algn="ctr">
              <a:buNone/>
            </a:pPr>
            <a:r>
              <a:rPr lang="en-US" sz="900" dirty="0">
                <a:solidFill>
                  <a:srgbClr val="8BAABF"/>
                </a:solidFill>
                <a:latin typeface="Calibri" pitchFamily="34" charset="0"/>
                <a:ea typeface="Calibri" pitchFamily="34" charset="-122"/>
                <a:cs typeface="Calibri" pitchFamily="34" charset="-120"/>
              </a:rPr>
              <a:t>Knowledge Gap (domain spesifik)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Research Gap &amp; Masalah Komputasi</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1005840"/>
            <a:ext cx="8503920" cy="1188720"/>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1005840"/>
            <a:ext cx="64008" cy="1188720"/>
          </a:xfrm>
          <a:prstGeom prst="rect">
            <a:avLst/>
          </a:prstGeom>
          <a:solidFill>
            <a:srgbClr val="4FC3F7"/>
          </a:solidFill>
          <a:ln/>
        </p:spPr>
      </p:sp>
      <p:sp>
        <p:nvSpPr>
          <p:cNvPr id="9" name="Shape 7"/>
          <p:cNvSpPr/>
          <p:nvPr/>
        </p:nvSpPr>
        <p:spPr>
          <a:xfrm>
            <a:off x="502920" y="1389888"/>
            <a:ext cx="1024128" cy="256032"/>
          </a:xfrm>
          <a:prstGeom prst="roundRect">
            <a:avLst>
              <a:gd name="adj" fmla="val 21429"/>
            </a:avLst>
          </a:prstGeom>
          <a:solidFill>
            <a:srgbClr val="4FC3F7">
              <a:alpha val="80000"/>
            </a:srgbClr>
          </a:solidFill>
          <a:ln w="10160">
            <a:solidFill>
              <a:srgbClr val="4FC3F7"/>
            </a:solidFill>
            <a:prstDash val="solid"/>
          </a:ln>
        </p:spPr>
      </p:sp>
      <p:sp>
        <p:nvSpPr>
          <p:cNvPr id="10" name="Text 8"/>
          <p:cNvSpPr/>
          <p:nvPr/>
        </p:nvSpPr>
        <p:spPr>
          <a:xfrm>
            <a:off x="502920" y="1389888"/>
            <a:ext cx="1024128" cy="256032"/>
          </a:xfrm>
          <a:prstGeom prst="rect">
            <a:avLst/>
          </a:prstGeom>
          <a:noFill/>
          <a:ln/>
        </p:spPr>
        <p:txBody>
          <a:bodyPr wrap="square" lIns="0" tIns="0" rIns="0" bIns="0" rtlCol="0" anchor="ctr"/>
          <a:lstStyle/>
          <a:p>
            <a:pPr marL="0" indent="0" algn="ctr">
              <a:buNone/>
            </a:pPr>
            <a:r>
              <a:rPr lang="en-US" sz="850" b="1" dirty="0">
                <a:solidFill>
                  <a:srgbClr val="0F2240"/>
                </a:solidFill>
                <a:latin typeface="Calibri" pitchFamily="34" charset="0"/>
                <a:ea typeface="Calibri" pitchFamily="34" charset="-122"/>
                <a:cs typeface="Calibri" pitchFamily="34" charset="-120"/>
              </a:rPr>
              <a:t>Gap 01</a:t>
            </a:r>
            <a:endParaRPr lang="en-US" sz="850" dirty="0"/>
          </a:p>
        </p:txBody>
      </p:sp>
      <p:sp>
        <p:nvSpPr>
          <p:cNvPr id="11" name="Text 9"/>
          <p:cNvSpPr/>
          <p:nvPr/>
        </p:nvSpPr>
        <p:spPr>
          <a:xfrm>
            <a:off x="1645920" y="1078992"/>
            <a:ext cx="7040880" cy="310896"/>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Homogenitas Domain Dataset</a:t>
            </a:r>
            <a:endParaRPr lang="en-US" sz="1300" dirty="0"/>
          </a:p>
        </p:txBody>
      </p:sp>
      <p:sp>
        <p:nvSpPr>
          <p:cNvPr id="12" name="Text 10"/>
          <p:cNvSpPr/>
          <p:nvPr/>
        </p:nvSpPr>
        <p:spPr>
          <a:xfrm>
            <a:off x="1645920" y="1426464"/>
            <a:ext cx="7040880" cy="667512"/>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Seluruh riset RAG Bahasa Indonesia yang ada hanya diuji pada domain tunggal (keagamaan atau layanan spesifik). Tidak ada yang mengevaluasi performa RAG secara komprehensif pada skenario Cross-Domain (akademik + hukum + kesehatan + layanan publik secara bersamaan).</a:t>
            </a:r>
            <a:endParaRPr lang="en-US" sz="1100" dirty="0"/>
          </a:p>
        </p:txBody>
      </p:sp>
      <p:sp>
        <p:nvSpPr>
          <p:cNvPr id="13" name="Shape 11"/>
          <p:cNvSpPr/>
          <p:nvPr/>
        </p:nvSpPr>
        <p:spPr>
          <a:xfrm>
            <a:off x="320040" y="2359152"/>
            <a:ext cx="8503920" cy="1188720"/>
          </a:xfrm>
          <a:prstGeom prst="rect">
            <a:avLst/>
          </a:prstGeom>
          <a:solidFill>
            <a:srgbClr val="162B50"/>
          </a:solidFill>
          <a:ln/>
          <a:effectLst>
            <a:outerShdw blurRad="63500" dist="25400" dir="8100000" algn="bl" rotWithShape="0">
              <a:srgbClr val="000000">
                <a:alpha val="18000"/>
              </a:srgbClr>
            </a:outerShdw>
          </a:effectLst>
        </p:spPr>
      </p:sp>
      <p:sp>
        <p:nvSpPr>
          <p:cNvPr id="14" name="Shape 12"/>
          <p:cNvSpPr/>
          <p:nvPr/>
        </p:nvSpPr>
        <p:spPr>
          <a:xfrm>
            <a:off x="320040" y="2359152"/>
            <a:ext cx="64008" cy="1188720"/>
          </a:xfrm>
          <a:prstGeom prst="rect">
            <a:avLst/>
          </a:prstGeom>
          <a:solidFill>
            <a:srgbClr val="F1C40F"/>
          </a:solidFill>
          <a:ln/>
        </p:spPr>
      </p:sp>
      <p:sp>
        <p:nvSpPr>
          <p:cNvPr id="15" name="Shape 13"/>
          <p:cNvSpPr/>
          <p:nvPr/>
        </p:nvSpPr>
        <p:spPr>
          <a:xfrm>
            <a:off x="502920" y="2743200"/>
            <a:ext cx="1024128" cy="256032"/>
          </a:xfrm>
          <a:prstGeom prst="roundRect">
            <a:avLst>
              <a:gd name="adj" fmla="val 21429"/>
            </a:avLst>
          </a:prstGeom>
          <a:solidFill>
            <a:srgbClr val="F1C40F">
              <a:alpha val="80000"/>
            </a:srgbClr>
          </a:solidFill>
          <a:ln w="10160">
            <a:solidFill>
              <a:srgbClr val="F1C40F"/>
            </a:solidFill>
            <a:prstDash val="solid"/>
          </a:ln>
        </p:spPr>
      </p:sp>
      <p:sp>
        <p:nvSpPr>
          <p:cNvPr id="16" name="Text 14"/>
          <p:cNvSpPr/>
          <p:nvPr/>
        </p:nvSpPr>
        <p:spPr>
          <a:xfrm>
            <a:off x="502920" y="2743200"/>
            <a:ext cx="1024128" cy="256032"/>
          </a:xfrm>
          <a:prstGeom prst="rect">
            <a:avLst/>
          </a:prstGeom>
          <a:noFill/>
          <a:ln/>
        </p:spPr>
        <p:txBody>
          <a:bodyPr wrap="square" lIns="0" tIns="0" rIns="0" bIns="0" rtlCol="0" anchor="ctr"/>
          <a:lstStyle/>
          <a:p>
            <a:pPr marL="0" indent="0" algn="ctr">
              <a:buNone/>
            </a:pPr>
            <a:r>
              <a:rPr lang="en-US" sz="850" b="1" dirty="0">
                <a:solidFill>
                  <a:srgbClr val="0F2240"/>
                </a:solidFill>
                <a:latin typeface="Calibri" pitchFamily="34" charset="0"/>
                <a:ea typeface="Calibri" pitchFamily="34" charset="-122"/>
                <a:cs typeface="Calibri" pitchFamily="34" charset="-120"/>
              </a:rPr>
              <a:t>Gap 02</a:t>
            </a:r>
            <a:endParaRPr lang="en-US" sz="850" dirty="0"/>
          </a:p>
        </p:txBody>
      </p:sp>
      <p:sp>
        <p:nvSpPr>
          <p:cNvPr id="17" name="Text 15"/>
          <p:cNvSpPr/>
          <p:nvPr/>
        </p:nvSpPr>
        <p:spPr>
          <a:xfrm>
            <a:off x="1645920" y="2432304"/>
            <a:ext cx="7040880" cy="310896"/>
          </a:xfrm>
          <a:prstGeom prst="rect">
            <a:avLst/>
          </a:prstGeom>
          <a:noFill/>
          <a:ln/>
        </p:spPr>
        <p:txBody>
          <a:bodyPr wrap="square" lIns="0" tIns="0" rIns="0" bIns="0" rtlCol="0" anchor="ctr"/>
          <a:lstStyle/>
          <a:p>
            <a:pPr marL="0" indent="0">
              <a:buNone/>
            </a:pPr>
            <a:r>
              <a:rPr lang="en-US" sz="1300" b="1" dirty="0">
                <a:solidFill>
                  <a:srgbClr val="F1C40F"/>
                </a:solidFill>
                <a:latin typeface="Calibri" pitchFamily="34" charset="0"/>
                <a:ea typeface="Calibri" pitchFamily="34" charset="-122"/>
                <a:cs typeface="Calibri" pitchFamily="34" charset="-120"/>
              </a:rPr>
              <a:t>Ketergantungan API Berbayar &amp; Latensi Multimodal</a:t>
            </a:r>
            <a:endParaRPr lang="en-US" sz="1300" dirty="0"/>
          </a:p>
        </p:txBody>
      </p:sp>
      <p:sp>
        <p:nvSpPr>
          <p:cNvPr id="18" name="Text 16"/>
          <p:cNvSpPr/>
          <p:nvPr/>
        </p:nvSpPr>
        <p:spPr>
          <a:xfrm>
            <a:off x="1645920" y="2779776"/>
            <a:ext cx="7040880" cy="667512"/>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Sebagian besar solusi yang ada bergantung pada API komersial berbayar (OpenAI, Google) yang menimbulkan biaya dan isu privasi. Selain itu, belum ada penelitian yang secara eksplisit mengukur latensi pemrosesan dokumen multimodal dalam pipeline RAG Bahasa Indonesia.</a:t>
            </a:r>
            <a:endParaRPr lang="en-US" sz="1100" dirty="0"/>
          </a:p>
        </p:txBody>
      </p:sp>
      <p:sp>
        <p:nvSpPr>
          <p:cNvPr id="19" name="Shape 17"/>
          <p:cNvSpPr/>
          <p:nvPr/>
        </p:nvSpPr>
        <p:spPr>
          <a:xfrm>
            <a:off x="320040" y="3712464"/>
            <a:ext cx="8503920" cy="1188720"/>
          </a:xfrm>
          <a:prstGeom prst="rect">
            <a:avLst/>
          </a:prstGeom>
          <a:solidFill>
            <a:srgbClr val="162B50"/>
          </a:solidFill>
          <a:ln/>
          <a:effectLst>
            <a:outerShdw blurRad="63500" dist="25400" dir="8100000" algn="bl" rotWithShape="0">
              <a:srgbClr val="000000">
                <a:alpha val="18000"/>
              </a:srgbClr>
            </a:outerShdw>
          </a:effectLst>
        </p:spPr>
      </p:sp>
      <p:sp>
        <p:nvSpPr>
          <p:cNvPr id="20" name="Shape 18"/>
          <p:cNvSpPr/>
          <p:nvPr/>
        </p:nvSpPr>
        <p:spPr>
          <a:xfrm>
            <a:off x="320040" y="3712464"/>
            <a:ext cx="64008" cy="1188720"/>
          </a:xfrm>
          <a:prstGeom prst="rect">
            <a:avLst/>
          </a:prstGeom>
          <a:solidFill>
            <a:srgbClr val="E67E22"/>
          </a:solidFill>
          <a:ln/>
        </p:spPr>
      </p:sp>
      <p:sp>
        <p:nvSpPr>
          <p:cNvPr id="21" name="Shape 19"/>
          <p:cNvSpPr/>
          <p:nvPr/>
        </p:nvSpPr>
        <p:spPr>
          <a:xfrm>
            <a:off x="502920" y="4096512"/>
            <a:ext cx="1024128" cy="256032"/>
          </a:xfrm>
          <a:prstGeom prst="roundRect">
            <a:avLst>
              <a:gd name="adj" fmla="val 21429"/>
            </a:avLst>
          </a:prstGeom>
          <a:solidFill>
            <a:srgbClr val="E67E22">
              <a:alpha val="80000"/>
            </a:srgbClr>
          </a:solidFill>
          <a:ln w="10160">
            <a:solidFill>
              <a:srgbClr val="E67E22"/>
            </a:solidFill>
            <a:prstDash val="solid"/>
          </a:ln>
        </p:spPr>
      </p:sp>
      <p:sp>
        <p:nvSpPr>
          <p:cNvPr id="22" name="Text 20"/>
          <p:cNvSpPr/>
          <p:nvPr/>
        </p:nvSpPr>
        <p:spPr>
          <a:xfrm>
            <a:off x="502920" y="4096512"/>
            <a:ext cx="1024128" cy="256032"/>
          </a:xfrm>
          <a:prstGeom prst="rect">
            <a:avLst/>
          </a:prstGeom>
          <a:noFill/>
          <a:ln/>
        </p:spPr>
        <p:txBody>
          <a:bodyPr wrap="square" lIns="0" tIns="0" rIns="0" bIns="0" rtlCol="0" anchor="ctr"/>
          <a:lstStyle/>
          <a:p>
            <a:pPr marL="0" indent="0" algn="ctr">
              <a:buNone/>
            </a:pPr>
            <a:r>
              <a:rPr lang="en-US" sz="850" b="1" dirty="0">
                <a:solidFill>
                  <a:srgbClr val="0F2240"/>
                </a:solidFill>
                <a:latin typeface="Calibri" pitchFamily="34" charset="0"/>
                <a:ea typeface="Calibri" pitchFamily="34" charset="-122"/>
                <a:cs typeface="Calibri" pitchFamily="34" charset="-120"/>
              </a:rPr>
              <a:t>Pertanyaan Komputasi</a:t>
            </a:r>
            <a:endParaRPr lang="en-US" sz="850" dirty="0"/>
          </a:p>
        </p:txBody>
      </p:sp>
      <p:sp>
        <p:nvSpPr>
          <p:cNvPr id="23" name="Text 21"/>
          <p:cNvSpPr/>
          <p:nvPr/>
        </p:nvSpPr>
        <p:spPr>
          <a:xfrm>
            <a:off x="1645920" y="3785616"/>
            <a:ext cx="7040880" cy="310896"/>
          </a:xfrm>
          <a:prstGeom prst="rect">
            <a:avLst/>
          </a:prstGeom>
          <a:noFill/>
          <a:ln/>
        </p:spPr>
        <p:txBody>
          <a:bodyPr wrap="square" lIns="0" tIns="0" rIns="0" bIns="0" rtlCol="0" anchor="ctr"/>
          <a:lstStyle/>
          <a:p>
            <a:pPr marL="0" indent="0">
              <a:buNone/>
            </a:pPr>
            <a:r>
              <a:rPr lang="en-US" sz="1300" b="1" dirty="0">
                <a:solidFill>
                  <a:srgbClr val="E67E22"/>
                </a:solidFill>
                <a:latin typeface="Calibri" pitchFamily="34" charset="0"/>
                <a:ea typeface="Calibri" pitchFamily="34" charset="-122"/>
                <a:cs typeface="Calibri" pitchFamily="34" charset="-120"/>
              </a:rPr>
              <a:t>Rumusan Masalah Komputasi</a:t>
            </a:r>
            <a:endParaRPr lang="en-US" sz="1300" dirty="0"/>
          </a:p>
        </p:txBody>
      </p:sp>
      <p:sp>
        <p:nvSpPr>
          <p:cNvPr id="24" name="Text 22"/>
          <p:cNvSpPr/>
          <p:nvPr/>
        </p:nvSpPr>
        <p:spPr>
          <a:xfrm>
            <a:off x="1645920" y="4133088"/>
            <a:ext cx="7040880" cy="667512"/>
          </a:xfrm>
          <a:prstGeom prst="rect">
            <a:avLst/>
          </a:prstGeom>
          <a:noFill/>
          <a:ln/>
        </p:spPr>
        <p:txBody>
          <a:bodyPr wrap="square" lIns="0" tIns="0" rIns="0" bIns="0" rtlCol="0" anchor="t"/>
          <a:lstStyle/>
          <a:p>
            <a:pPr marL="0" indent="0">
              <a:buNone/>
            </a:pPr>
            <a:r>
              <a:rPr lang="en-US" sz="1100" dirty="0">
                <a:solidFill>
                  <a:srgbClr val="DCDCDC"/>
                </a:solidFill>
                <a:latin typeface="Calibri" pitchFamily="34" charset="0"/>
                <a:ea typeface="Calibri" pitchFamily="34" charset="-122"/>
                <a:cs typeface="Calibri" pitchFamily="34" charset="-120"/>
              </a:rPr>
              <a:t>Bagaimana merancang dan mengimplementasikan arsitektur Retrieval-Augmented Generation (RAG) yang mampu beradaptasi secara otomatis terhadap domain data heterogen lintas domain tanpa memerlukan proses Fine-Tuning ulang pada setiap domain baru?</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Rumusan Masalah, Hipotesis, dan Tujuan Penelitian</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1005840"/>
            <a:ext cx="4251960" cy="3749040"/>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1005840"/>
            <a:ext cx="4251960" cy="475488"/>
          </a:xfrm>
          <a:prstGeom prst="rect">
            <a:avLst/>
          </a:prstGeom>
          <a:solidFill>
            <a:srgbClr val="4FC3F7">
              <a:alpha val="85000"/>
            </a:srgbClr>
          </a:solidFill>
          <a:ln/>
        </p:spPr>
      </p:sp>
      <p:sp>
        <p:nvSpPr>
          <p:cNvPr id="9" name="Text 7"/>
          <p:cNvSpPr/>
          <p:nvPr/>
        </p:nvSpPr>
        <p:spPr>
          <a:xfrm>
            <a:off x="457200" y="1005840"/>
            <a:ext cx="3977640" cy="475488"/>
          </a:xfrm>
          <a:prstGeom prst="rect">
            <a:avLst/>
          </a:prstGeom>
          <a:noFill/>
          <a:ln/>
        </p:spPr>
        <p:txBody>
          <a:bodyPr wrap="square" lIns="0" tIns="0" rIns="0" bIns="0" rtlCol="0" anchor="ctr"/>
          <a:lstStyle/>
          <a:p>
            <a:pPr marL="0" indent="0">
              <a:buNone/>
            </a:pPr>
            <a:r>
              <a:rPr lang="en-US" sz="1200" b="1" dirty="0">
                <a:solidFill>
                  <a:srgbClr val="4FC3F7"/>
                </a:solidFill>
                <a:latin typeface="Calibri" pitchFamily="34" charset="0"/>
                <a:ea typeface="Calibri" pitchFamily="34" charset="-122"/>
                <a:cs typeface="Calibri" pitchFamily="34" charset="-120"/>
              </a:rPr>
              <a:t>❓  Rumusan Masalah &amp; Tujuan</a:t>
            </a:r>
            <a:endParaRPr lang="en-US" sz="1200" dirty="0"/>
          </a:p>
        </p:txBody>
      </p:sp>
      <p:sp>
        <p:nvSpPr>
          <p:cNvPr id="10" name="Text 8"/>
          <p:cNvSpPr/>
          <p:nvPr/>
        </p:nvSpPr>
        <p:spPr>
          <a:xfrm>
            <a:off x="457200" y="1581912"/>
            <a:ext cx="3977640" cy="1005840"/>
          </a:xfrm>
          <a:prstGeom prst="rect">
            <a:avLst/>
          </a:prstGeom>
          <a:noFill/>
          <a:ln/>
        </p:spPr>
        <p:txBody>
          <a:bodyPr wrap="square" rtlCol="0" anchor="t"/>
          <a:lstStyle/>
          <a:p>
            <a:pPr marL="0" indent="0">
              <a:buNone/>
            </a:pPr>
            <a:r>
              <a:rPr lang="en-US" sz="1150" b="1" dirty="0">
                <a:solidFill>
                  <a:srgbClr val="F1C40F"/>
                </a:solidFill>
                <a:latin typeface="Calibri" pitchFamily="34" charset="0"/>
                <a:ea typeface="Calibri" pitchFamily="34" charset="-122"/>
                <a:cs typeface="Calibri" pitchFamily="34" charset="-120"/>
              </a:rPr>
              <a:t>Rumusan: </a:t>
            </a:r>
            <a:r>
              <a:rPr lang="en-US" sz="1150" dirty="0">
                <a:solidFill>
                  <a:srgbClr val="DCDCDC"/>
                </a:solidFill>
                <a:latin typeface="Calibri" pitchFamily="34" charset="0"/>
                <a:ea typeface="Calibri" pitchFamily="34" charset="-122"/>
                <a:cs typeface="Calibri" pitchFamily="34" charset="-120"/>
              </a:rPr>
              <a:t>Seberapa besar pengaruh penerapan metode RAG terhadap kemampuan generalisasi Cross-Domain model NLP Bahasa Indonesia?</a:t>
            </a:r>
            <a:endParaRPr lang="en-US" sz="1150" dirty="0"/>
          </a:p>
        </p:txBody>
      </p:sp>
      <p:sp>
        <p:nvSpPr>
          <p:cNvPr id="11" name="Text 9"/>
          <p:cNvSpPr/>
          <p:nvPr/>
        </p:nvSpPr>
        <p:spPr>
          <a:xfrm>
            <a:off x="457200" y="2606040"/>
            <a:ext cx="3977640" cy="1005840"/>
          </a:xfrm>
          <a:prstGeom prst="rect">
            <a:avLst/>
          </a:prstGeom>
          <a:noFill/>
          <a:ln/>
        </p:spPr>
        <p:txBody>
          <a:bodyPr wrap="square" rtlCol="0" anchor="t"/>
          <a:lstStyle/>
          <a:p>
            <a:pPr marL="0" indent="0">
              <a:buNone/>
            </a:pPr>
            <a:r>
              <a:rPr lang="en-US" sz="1150" b="1" dirty="0">
                <a:solidFill>
                  <a:srgbClr val="F1C40F"/>
                </a:solidFill>
                <a:latin typeface="Calibri" pitchFamily="34" charset="0"/>
                <a:ea typeface="Calibri" pitchFamily="34" charset="-122"/>
                <a:cs typeface="Calibri" pitchFamily="34" charset="-120"/>
              </a:rPr>
              <a:t>Tujuan: </a:t>
            </a:r>
            <a:r>
              <a:rPr lang="en-US" sz="1150" dirty="0">
                <a:solidFill>
                  <a:srgbClr val="DCDCDC"/>
                </a:solidFill>
                <a:latin typeface="Calibri" pitchFamily="34" charset="0"/>
                <a:ea typeface="Calibri" pitchFamily="34" charset="-122"/>
                <a:cs typeface="Calibri" pitchFamily="34" charset="-120"/>
              </a:rPr>
              <a:t>Menganalisis pengaruh RAG secara kuantitatif menggunakan metrik Akurasi, BLEU, dan ROUGE, serta membandingkan hasilnya dengan model Baseline (non-RAG).</a:t>
            </a:r>
            <a:endParaRPr lang="en-US" sz="1150" dirty="0"/>
          </a:p>
        </p:txBody>
      </p:sp>
      <p:sp>
        <p:nvSpPr>
          <p:cNvPr id="12" name="Text 10"/>
          <p:cNvSpPr/>
          <p:nvPr/>
        </p:nvSpPr>
        <p:spPr>
          <a:xfrm>
            <a:off x="457200" y="3630168"/>
            <a:ext cx="3977640" cy="1005840"/>
          </a:xfrm>
          <a:prstGeom prst="rect">
            <a:avLst/>
          </a:prstGeom>
          <a:noFill/>
          <a:ln/>
        </p:spPr>
        <p:txBody>
          <a:bodyPr wrap="square" rtlCol="0" anchor="t"/>
          <a:lstStyle/>
          <a:p>
            <a:pPr marL="0" indent="0">
              <a:buNone/>
            </a:pPr>
            <a:r>
              <a:rPr lang="en-US" sz="1150" b="1" dirty="0">
                <a:solidFill>
                  <a:srgbClr val="F1C40F"/>
                </a:solidFill>
                <a:latin typeface="Calibri" pitchFamily="34" charset="0"/>
                <a:ea typeface="Calibri" pitchFamily="34" charset="-122"/>
                <a:cs typeface="Calibri" pitchFamily="34" charset="-120"/>
              </a:rPr>
              <a:t>Output: </a:t>
            </a:r>
            <a:r>
              <a:rPr lang="en-US" sz="1150" dirty="0">
                <a:solidFill>
                  <a:srgbClr val="DCDCDC"/>
                </a:solidFill>
                <a:latin typeface="Calibri" pitchFamily="34" charset="0"/>
                <a:ea typeface="Calibri" pitchFamily="34" charset="-122"/>
                <a:cs typeface="Calibri" pitchFamily="34" charset="-120"/>
              </a:rPr>
              <a:t>Prototipe sistem RAG open-source berbahasa Indonesia yang dapat digunakan lintas domain tanpa Fine-Tuning ulang.</a:t>
            </a:r>
            <a:endParaRPr lang="en-US" sz="1150" dirty="0"/>
          </a:p>
        </p:txBody>
      </p:sp>
      <p:sp>
        <p:nvSpPr>
          <p:cNvPr id="13" name="Shape 11"/>
          <p:cNvSpPr/>
          <p:nvPr/>
        </p:nvSpPr>
        <p:spPr>
          <a:xfrm>
            <a:off x="4754880" y="1005840"/>
            <a:ext cx="4069080" cy="3749040"/>
          </a:xfrm>
          <a:prstGeom prst="rect">
            <a:avLst/>
          </a:prstGeom>
          <a:solidFill>
            <a:srgbClr val="162B50"/>
          </a:solidFill>
          <a:ln/>
          <a:effectLst>
            <a:outerShdw blurRad="63500" dist="25400" dir="8100000" algn="bl" rotWithShape="0">
              <a:srgbClr val="000000">
                <a:alpha val="18000"/>
              </a:srgbClr>
            </a:outerShdw>
          </a:effectLst>
        </p:spPr>
      </p:sp>
      <p:sp>
        <p:nvSpPr>
          <p:cNvPr id="14" name="Shape 12"/>
          <p:cNvSpPr/>
          <p:nvPr/>
        </p:nvSpPr>
        <p:spPr>
          <a:xfrm>
            <a:off x="4754880" y="1005840"/>
            <a:ext cx="4069080" cy="475488"/>
          </a:xfrm>
          <a:prstGeom prst="rect">
            <a:avLst/>
          </a:prstGeom>
          <a:solidFill>
            <a:srgbClr val="F1C40F">
              <a:alpha val="85000"/>
            </a:srgbClr>
          </a:solidFill>
          <a:ln/>
        </p:spPr>
      </p:sp>
      <p:sp>
        <p:nvSpPr>
          <p:cNvPr id="15" name="Text 13"/>
          <p:cNvSpPr/>
          <p:nvPr/>
        </p:nvSpPr>
        <p:spPr>
          <a:xfrm>
            <a:off x="4892040" y="1005840"/>
            <a:ext cx="3794760" cy="475488"/>
          </a:xfrm>
          <a:prstGeom prst="rect">
            <a:avLst/>
          </a:prstGeom>
          <a:noFill/>
          <a:ln/>
        </p:spPr>
        <p:txBody>
          <a:bodyPr wrap="square" lIns="0" tIns="0" rIns="0" bIns="0" rtlCol="0" anchor="ctr"/>
          <a:lstStyle/>
          <a:p>
            <a:pPr marL="0" indent="0">
              <a:buNone/>
            </a:pPr>
            <a:r>
              <a:rPr lang="en-US" sz="1200" b="1" dirty="0">
                <a:solidFill>
                  <a:srgbClr val="F1C40F"/>
                </a:solidFill>
                <a:latin typeface="Calibri" pitchFamily="34" charset="0"/>
                <a:ea typeface="Calibri" pitchFamily="34" charset="-122"/>
                <a:cs typeface="Calibri" pitchFamily="34" charset="-120"/>
              </a:rPr>
              <a:t>💡  Hipotesis Penelitian</a:t>
            </a:r>
            <a:endParaRPr lang="en-US" sz="1200" dirty="0"/>
          </a:p>
        </p:txBody>
      </p:sp>
      <p:sp>
        <p:nvSpPr>
          <p:cNvPr id="16" name="Text 14"/>
          <p:cNvSpPr/>
          <p:nvPr/>
        </p:nvSpPr>
        <p:spPr>
          <a:xfrm>
            <a:off x="4892040" y="1581912"/>
            <a:ext cx="3794760" cy="3063240"/>
          </a:xfrm>
          <a:prstGeom prst="rect">
            <a:avLst/>
          </a:prstGeom>
          <a:noFill/>
          <a:ln/>
        </p:spPr>
        <p:txBody>
          <a:bodyPr wrap="square" rtlCol="0" anchor="t"/>
          <a:lstStyle/>
          <a:p>
            <a:pPr marL="0" indent="0">
              <a:buNone/>
            </a:pPr>
            <a:r>
              <a:rPr lang="en-US" sz="1150" b="1" dirty="0">
                <a:solidFill>
                  <a:srgbClr val="F1C40F"/>
                </a:solidFill>
                <a:latin typeface="Calibri" pitchFamily="34" charset="0"/>
                <a:ea typeface="Calibri" pitchFamily="34" charset="-122"/>
                <a:cs typeface="Calibri" pitchFamily="34" charset="-120"/>
              </a:rPr>
              <a:t>H₁ (Hipotesis Alternatif):
</a:t>
            </a:r>
            <a:r>
              <a:rPr lang="en-US" sz="1150" dirty="0">
                <a:solidFill>
                  <a:srgbClr val="DCDCDC"/>
                </a:solidFill>
                <a:latin typeface="Calibri" pitchFamily="34" charset="0"/>
                <a:ea typeface="Calibri" pitchFamily="34" charset="-122"/>
                <a:cs typeface="Calibri" pitchFamily="34" charset="-120"/>
              </a:rPr>
              <a:t>Penerapan metode RAG berpengaruh positif dan signifikan terhadap kemampuan generalisasi Cross-Domain model NLP Bahasa Indonesia.
</a:t>
            </a:r>
            <a:r>
              <a:rPr lang="en-US" sz="1150" b="1" dirty="0">
                <a:solidFill>
                  <a:srgbClr val="F1C40F"/>
                </a:solidFill>
                <a:latin typeface="Calibri" pitchFamily="34" charset="0"/>
                <a:ea typeface="Calibri" pitchFamily="34" charset="-122"/>
                <a:cs typeface="Calibri" pitchFamily="34" charset="-120"/>
              </a:rPr>
              <a:t>Estimasi Peningkatan:
</a:t>
            </a:r>
            <a:r>
              <a:rPr lang="en-US" sz="1150" dirty="0">
                <a:solidFill>
                  <a:srgbClr val="DCDCDC"/>
                </a:solidFill>
                <a:latin typeface="Calibri" pitchFamily="34" charset="0"/>
                <a:ea typeface="Calibri" pitchFamily="34" charset="-122"/>
                <a:cs typeface="Calibri" pitchFamily="34" charset="-120"/>
              </a:rPr>
              <a:t>Minimal 10%–20% pada seluruh metrik evaluasi (Akurasi, BLEU, ROUGE) dibandingkan model Baseline, tanpa Fine-Tuning ulang.
</a:t>
            </a:r>
            <a:r>
              <a:rPr lang="en-US" sz="1150" b="1" dirty="0">
                <a:solidFill>
                  <a:srgbClr val="8BAABF"/>
                </a:solidFill>
                <a:latin typeface="Calibri" pitchFamily="34" charset="0"/>
                <a:ea typeface="Calibri" pitchFamily="34" charset="-122"/>
                <a:cs typeface="Calibri" pitchFamily="34" charset="-120"/>
              </a:rPr>
              <a:t>H₀ (Hipotesis Null):
</a:t>
            </a:r>
            <a:r>
              <a:rPr lang="en-US" sz="1150" dirty="0">
                <a:solidFill>
                  <a:srgbClr val="8BAABF"/>
                </a:solidFill>
                <a:latin typeface="Calibri" pitchFamily="34" charset="0"/>
                <a:ea typeface="Calibri" pitchFamily="34" charset="-122"/>
                <a:cs typeface="Calibri" pitchFamily="34" charset="-120"/>
              </a:rPr>
              <a:t>Tidak terdapat perbedaan signifikan antara model RAG dan Baseline.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Batasan Penelitian</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320040" y="987552"/>
            <a:ext cx="8503920" cy="1170432"/>
          </a:xfrm>
          <a:prstGeom prst="rect">
            <a:avLst/>
          </a:prstGeom>
          <a:solidFill>
            <a:srgbClr val="162B50"/>
          </a:solidFill>
          <a:ln/>
          <a:effectLst>
            <a:outerShdw blurRad="63500" dist="25400" dir="8100000" algn="bl" rotWithShape="0">
              <a:srgbClr val="000000">
                <a:alpha val="18000"/>
              </a:srgbClr>
            </a:outerShdw>
          </a:effectLst>
        </p:spPr>
      </p:sp>
      <p:sp>
        <p:nvSpPr>
          <p:cNvPr id="8" name="Shape 6"/>
          <p:cNvSpPr/>
          <p:nvPr/>
        </p:nvSpPr>
        <p:spPr>
          <a:xfrm>
            <a:off x="320040" y="987552"/>
            <a:ext cx="64008" cy="1170432"/>
          </a:xfrm>
          <a:prstGeom prst="rect">
            <a:avLst/>
          </a:prstGeom>
          <a:solidFill>
            <a:srgbClr val="4FC3F7"/>
          </a:solidFill>
          <a:ln/>
        </p:spPr>
      </p:sp>
      <p:sp>
        <p:nvSpPr>
          <p:cNvPr id="9" name="Shape 7"/>
          <p:cNvSpPr/>
          <p:nvPr/>
        </p:nvSpPr>
        <p:spPr>
          <a:xfrm>
            <a:off x="630936" y="1243584"/>
            <a:ext cx="658368" cy="658368"/>
          </a:xfrm>
          <a:prstGeom prst="ellipse">
            <a:avLst/>
          </a:prstGeom>
          <a:solidFill>
            <a:srgbClr val="4FC3F7">
              <a:alpha val="82000"/>
            </a:srgbClr>
          </a:solidFill>
          <a:ln w="15240">
            <a:solidFill>
              <a:srgbClr val="4FC3F7"/>
            </a:solidFill>
            <a:prstDash val="solid"/>
          </a:ln>
        </p:spPr>
      </p:sp>
      <p:sp>
        <p:nvSpPr>
          <p:cNvPr id="10" name="Text 8"/>
          <p:cNvSpPr/>
          <p:nvPr/>
        </p:nvSpPr>
        <p:spPr>
          <a:xfrm>
            <a:off x="630936" y="1243584"/>
            <a:ext cx="658368" cy="658368"/>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01</a:t>
            </a:r>
            <a:endParaRPr lang="en-US" sz="1500" dirty="0"/>
          </a:p>
        </p:txBody>
      </p:sp>
      <p:sp>
        <p:nvSpPr>
          <p:cNvPr id="11" name="Text 9"/>
          <p:cNvSpPr/>
          <p:nvPr/>
        </p:nvSpPr>
        <p:spPr>
          <a:xfrm>
            <a:off x="1444752" y="1078992"/>
            <a:ext cx="7242048" cy="292608"/>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Cakupan Dataset</a:t>
            </a:r>
            <a:endParaRPr lang="en-US" sz="1300" dirty="0"/>
          </a:p>
        </p:txBody>
      </p:sp>
      <p:sp>
        <p:nvSpPr>
          <p:cNvPr id="12" name="Text 10"/>
          <p:cNvSpPr/>
          <p:nvPr/>
        </p:nvSpPr>
        <p:spPr>
          <a:xfrm>
            <a:off x="1444752" y="1408176"/>
            <a:ext cx="7242048" cy="658368"/>
          </a:xfrm>
          <a:prstGeom prst="rect">
            <a:avLst/>
          </a:prstGeom>
          <a:noFill/>
          <a:ln/>
        </p:spPr>
        <p:txBody>
          <a:bodyPr wrap="square" lIns="0" tIns="0" rIns="0" bIns="0" rtlCol="0" anchor="t"/>
          <a:lstStyle/>
          <a:p>
            <a:pPr marL="0" indent="0">
              <a:buNone/>
            </a:pPr>
            <a:r>
              <a:rPr lang="en-US" sz="1150" dirty="0">
                <a:solidFill>
                  <a:srgbClr val="DCDCDC"/>
                </a:solidFill>
                <a:latin typeface="Calibri" pitchFamily="34" charset="0"/>
                <a:ea typeface="Calibri" pitchFamily="34" charset="-122"/>
                <a:cs typeface="Calibri" pitchFamily="34" charset="-120"/>
              </a:rPr>
              <a:t>Penelitian hanya menggunakan dataset teks Bahasa Indonesia dari empat domain yang telah ditentukan: (1) Akademik, (2) Hukum, (3) Kesehatan, dan (4) Layanan Publik. Dataset dari domain lain (sastra, teknologi, dll.) berada di luar cakupan penelitian ini.</a:t>
            </a:r>
            <a:endParaRPr lang="en-US" sz="1150" dirty="0"/>
          </a:p>
        </p:txBody>
      </p:sp>
      <p:sp>
        <p:nvSpPr>
          <p:cNvPr id="13" name="Shape 11"/>
          <p:cNvSpPr/>
          <p:nvPr/>
        </p:nvSpPr>
        <p:spPr>
          <a:xfrm>
            <a:off x="320040" y="2304288"/>
            <a:ext cx="8503920" cy="1170432"/>
          </a:xfrm>
          <a:prstGeom prst="rect">
            <a:avLst/>
          </a:prstGeom>
          <a:solidFill>
            <a:srgbClr val="162B50"/>
          </a:solidFill>
          <a:ln/>
          <a:effectLst>
            <a:outerShdw blurRad="63500" dist="25400" dir="8100000" algn="bl" rotWithShape="0">
              <a:srgbClr val="000000">
                <a:alpha val="18000"/>
              </a:srgbClr>
            </a:outerShdw>
          </a:effectLst>
        </p:spPr>
      </p:sp>
      <p:sp>
        <p:nvSpPr>
          <p:cNvPr id="14" name="Shape 12"/>
          <p:cNvSpPr/>
          <p:nvPr/>
        </p:nvSpPr>
        <p:spPr>
          <a:xfrm>
            <a:off x="320040" y="2304288"/>
            <a:ext cx="64008" cy="1170432"/>
          </a:xfrm>
          <a:prstGeom prst="rect">
            <a:avLst/>
          </a:prstGeom>
          <a:solidFill>
            <a:srgbClr val="F1C40F"/>
          </a:solidFill>
          <a:ln/>
        </p:spPr>
      </p:sp>
      <p:sp>
        <p:nvSpPr>
          <p:cNvPr id="15" name="Shape 13"/>
          <p:cNvSpPr/>
          <p:nvPr/>
        </p:nvSpPr>
        <p:spPr>
          <a:xfrm>
            <a:off x="630936" y="2560320"/>
            <a:ext cx="658368" cy="658368"/>
          </a:xfrm>
          <a:prstGeom prst="ellipse">
            <a:avLst/>
          </a:prstGeom>
          <a:solidFill>
            <a:srgbClr val="F1C40F">
              <a:alpha val="82000"/>
            </a:srgbClr>
          </a:solidFill>
          <a:ln w="15240">
            <a:solidFill>
              <a:srgbClr val="F1C40F"/>
            </a:solidFill>
            <a:prstDash val="solid"/>
          </a:ln>
        </p:spPr>
      </p:sp>
      <p:sp>
        <p:nvSpPr>
          <p:cNvPr id="16" name="Text 14"/>
          <p:cNvSpPr/>
          <p:nvPr/>
        </p:nvSpPr>
        <p:spPr>
          <a:xfrm>
            <a:off x="630936" y="2560320"/>
            <a:ext cx="658368" cy="658368"/>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02</a:t>
            </a:r>
            <a:endParaRPr lang="en-US" sz="1500" dirty="0"/>
          </a:p>
        </p:txBody>
      </p:sp>
      <p:sp>
        <p:nvSpPr>
          <p:cNvPr id="17" name="Text 15"/>
          <p:cNvSpPr/>
          <p:nvPr/>
        </p:nvSpPr>
        <p:spPr>
          <a:xfrm>
            <a:off x="1444752" y="2395728"/>
            <a:ext cx="7242048" cy="292608"/>
          </a:xfrm>
          <a:prstGeom prst="rect">
            <a:avLst/>
          </a:prstGeom>
          <a:noFill/>
          <a:ln/>
        </p:spPr>
        <p:txBody>
          <a:bodyPr wrap="square" lIns="0" tIns="0" rIns="0" bIns="0" rtlCol="0" anchor="ctr"/>
          <a:lstStyle/>
          <a:p>
            <a:pPr marL="0" indent="0">
              <a:buNone/>
            </a:pPr>
            <a:r>
              <a:rPr lang="en-US" sz="1300" b="1" dirty="0">
                <a:solidFill>
                  <a:srgbClr val="F1C40F"/>
                </a:solidFill>
                <a:latin typeface="Calibri" pitchFamily="34" charset="0"/>
                <a:ea typeface="Calibri" pitchFamily="34" charset="-122"/>
                <a:cs typeface="Calibri" pitchFamily="34" charset="-120"/>
              </a:rPr>
              <a:t>Lingkungan Pengembangan &amp; Tools</a:t>
            </a:r>
            <a:endParaRPr lang="en-US" sz="1300" dirty="0"/>
          </a:p>
        </p:txBody>
      </p:sp>
      <p:sp>
        <p:nvSpPr>
          <p:cNvPr id="18" name="Text 16"/>
          <p:cNvSpPr/>
          <p:nvPr/>
        </p:nvSpPr>
        <p:spPr>
          <a:xfrm>
            <a:off x="1444752" y="2724912"/>
            <a:ext cx="7242048" cy="658368"/>
          </a:xfrm>
          <a:prstGeom prst="rect">
            <a:avLst/>
          </a:prstGeom>
          <a:noFill/>
          <a:ln/>
        </p:spPr>
        <p:txBody>
          <a:bodyPr wrap="square" lIns="0" tIns="0" rIns="0" bIns="0" rtlCol="0" anchor="t"/>
          <a:lstStyle/>
          <a:p>
            <a:pPr marL="0" indent="0">
              <a:buNone/>
            </a:pPr>
            <a:r>
              <a:rPr lang="en-US" sz="1150" dirty="0">
                <a:solidFill>
                  <a:srgbClr val="DCDCDC"/>
                </a:solidFill>
                <a:latin typeface="Calibri" pitchFamily="34" charset="0"/>
                <a:ea typeface="Calibri" pitchFamily="34" charset="-122"/>
                <a:cs typeface="Calibri" pitchFamily="34" charset="-120"/>
              </a:rPr>
              <a:t>Implementasi dilakukan menggunakan bahasa pemrograman Python dengan framework LangChain sebagai orkestrasi RAG pipeline. Seluruh eksperimen dijalankan pada komputasi lokal yang disesuaikan dengan kapasitas GPU/CPU yang tersedia — tanpa bergantung pada API berbayar.</a:t>
            </a:r>
            <a:endParaRPr lang="en-US" sz="1150" dirty="0"/>
          </a:p>
        </p:txBody>
      </p:sp>
      <p:sp>
        <p:nvSpPr>
          <p:cNvPr id="19" name="Shape 17"/>
          <p:cNvSpPr/>
          <p:nvPr/>
        </p:nvSpPr>
        <p:spPr>
          <a:xfrm>
            <a:off x="320040" y="3621024"/>
            <a:ext cx="8503920" cy="1170432"/>
          </a:xfrm>
          <a:prstGeom prst="rect">
            <a:avLst/>
          </a:prstGeom>
          <a:solidFill>
            <a:srgbClr val="162B50"/>
          </a:solidFill>
          <a:ln/>
          <a:effectLst>
            <a:outerShdw blurRad="63500" dist="25400" dir="8100000" algn="bl" rotWithShape="0">
              <a:srgbClr val="000000">
                <a:alpha val="18000"/>
              </a:srgbClr>
            </a:outerShdw>
          </a:effectLst>
        </p:spPr>
      </p:sp>
      <p:sp>
        <p:nvSpPr>
          <p:cNvPr id="20" name="Shape 18"/>
          <p:cNvSpPr/>
          <p:nvPr/>
        </p:nvSpPr>
        <p:spPr>
          <a:xfrm>
            <a:off x="320040" y="3621024"/>
            <a:ext cx="64008" cy="1170432"/>
          </a:xfrm>
          <a:prstGeom prst="rect">
            <a:avLst/>
          </a:prstGeom>
          <a:solidFill>
            <a:srgbClr val="2ECC71"/>
          </a:solidFill>
          <a:ln/>
        </p:spPr>
      </p:sp>
      <p:sp>
        <p:nvSpPr>
          <p:cNvPr id="21" name="Shape 19"/>
          <p:cNvSpPr/>
          <p:nvPr/>
        </p:nvSpPr>
        <p:spPr>
          <a:xfrm>
            <a:off x="630936" y="3877056"/>
            <a:ext cx="658368" cy="658368"/>
          </a:xfrm>
          <a:prstGeom prst="ellipse">
            <a:avLst/>
          </a:prstGeom>
          <a:solidFill>
            <a:srgbClr val="2ECC71">
              <a:alpha val="82000"/>
            </a:srgbClr>
          </a:solidFill>
          <a:ln w="15240">
            <a:solidFill>
              <a:srgbClr val="2ECC71"/>
            </a:solidFill>
            <a:prstDash val="solid"/>
          </a:ln>
        </p:spPr>
      </p:sp>
      <p:sp>
        <p:nvSpPr>
          <p:cNvPr id="22" name="Text 20"/>
          <p:cNvSpPr/>
          <p:nvPr/>
        </p:nvSpPr>
        <p:spPr>
          <a:xfrm>
            <a:off x="630936" y="3877056"/>
            <a:ext cx="658368" cy="658368"/>
          </a:xfrm>
          <a:prstGeom prst="rect">
            <a:avLst/>
          </a:prstGeom>
          <a:noFill/>
          <a:ln/>
        </p:spPr>
        <p:txBody>
          <a:bodyPr wrap="square" lIns="0" tIns="0" rIns="0" bIns="0" rtlCol="0" anchor="ctr"/>
          <a:lstStyle/>
          <a:p>
            <a:pPr marL="0" indent="0" algn="ctr">
              <a:buNone/>
            </a:pPr>
            <a:r>
              <a:rPr lang="en-US" sz="1500" b="1" dirty="0">
                <a:solidFill>
                  <a:srgbClr val="0F2240"/>
                </a:solidFill>
                <a:latin typeface="Calibri" pitchFamily="34" charset="0"/>
                <a:ea typeface="Calibri" pitchFamily="34" charset="-122"/>
                <a:cs typeface="Calibri" pitchFamily="34" charset="-120"/>
              </a:rPr>
              <a:t>03</a:t>
            </a:r>
            <a:endParaRPr lang="en-US" sz="1500" dirty="0"/>
          </a:p>
        </p:txBody>
      </p:sp>
      <p:sp>
        <p:nvSpPr>
          <p:cNvPr id="23" name="Text 21"/>
          <p:cNvSpPr/>
          <p:nvPr/>
        </p:nvSpPr>
        <p:spPr>
          <a:xfrm>
            <a:off x="1444752" y="3712464"/>
            <a:ext cx="7242048" cy="292608"/>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Ruang Lingkup Eksperimen</a:t>
            </a:r>
            <a:endParaRPr lang="en-US" sz="1300" dirty="0"/>
          </a:p>
        </p:txBody>
      </p:sp>
      <p:sp>
        <p:nvSpPr>
          <p:cNvPr id="24" name="Text 22"/>
          <p:cNvSpPr/>
          <p:nvPr/>
        </p:nvSpPr>
        <p:spPr>
          <a:xfrm>
            <a:off x="1444752" y="4041648"/>
            <a:ext cx="7242048" cy="658368"/>
          </a:xfrm>
          <a:prstGeom prst="rect">
            <a:avLst/>
          </a:prstGeom>
          <a:noFill/>
          <a:ln/>
        </p:spPr>
        <p:txBody>
          <a:bodyPr wrap="square" lIns="0" tIns="0" rIns="0" bIns="0" rtlCol="0" anchor="t"/>
          <a:lstStyle/>
          <a:p>
            <a:pPr marL="0" indent="0">
              <a:buNone/>
            </a:pPr>
            <a:r>
              <a:rPr lang="en-US" sz="1150" dirty="0">
                <a:solidFill>
                  <a:srgbClr val="DCDCDC"/>
                </a:solidFill>
                <a:latin typeface="Calibri" pitchFamily="34" charset="0"/>
                <a:ea typeface="Calibri" pitchFamily="34" charset="-122"/>
                <a:cs typeface="Calibri" pitchFamily="34" charset="-120"/>
              </a:rPr>
              <a:t>Eksperimen dibatasi pada eksplorasi empat parameter konfigurasi: (a) pemilihan Embedding Model, (b) ukuran dan komposisi dataset per domain, (c) strategi Chunking dokumen (ukuran chunk &amp; overlap), dan (d) nilai optimal Top-K Retrieval per kueri.</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240"/>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FC3F7"/>
          </a:solidFill>
          <a:ln/>
        </p:spPr>
      </p:sp>
      <p:sp>
        <p:nvSpPr>
          <p:cNvPr id="3" name="Shape 1"/>
          <p:cNvSpPr/>
          <p:nvPr/>
        </p:nvSpPr>
        <p:spPr>
          <a:xfrm>
            <a:off x="0" y="5079492"/>
            <a:ext cx="9144000" cy="64008"/>
          </a:xfrm>
          <a:prstGeom prst="rect">
            <a:avLst/>
          </a:prstGeom>
          <a:solidFill>
            <a:srgbClr val="0D1C36"/>
          </a:solidFill>
          <a:ln/>
        </p:spPr>
      </p:sp>
      <p:sp>
        <p:nvSpPr>
          <p:cNvPr id="4" name="Shape 2"/>
          <p:cNvSpPr/>
          <p:nvPr/>
        </p:nvSpPr>
        <p:spPr>
          <a:xfrm>
            <a:off x="0" y="64008"/>
            <a:ext cx="9144000" cy="758952"/>
          </a:xfrm>
          <a:prstGeom prst="rect">
            <a:avLst/>
          </a:prstGeom>
          <a:solidFill>
            <a:srgbClr val="162B50"/>
          </a:solidFill>
          <a:ln/>
        </p:spPr>
      </p:sp>
      <p:sp>
        <p:nvSpPr>
          <p:cNvPr id="5" name="Text 3"/>
          <p:cNvSpPr/>
          <p:nvPr/>
        </p:nvSpPr>
        <p:spPr>
          <a:xfrm>
            <a:off x="457200" y="64008"/>
            <a:ext cx="8229600" cy="758952"/>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Rencana Kerja Penelitian — Gantt Chart</a:t>
            </a:r>
            <a:endParaRPr lang="en-US" sz="2700" dirty="0"/>
          </a:p>
        </p:txBody>
      </p:sp>
      <p:sp>
        <p:nvSpPr>
          <p:cNvPr id="6" name="Shape 4"/>
          <p:cNvSpPr/>
          <p:nvPr/>
        </p:nvSpPr>
        <p:spPr>
          <a:xfrm>
            <a:off x="457200" y="804672"/>
            <a:ext cx="2011680" cy="45720"/>
          </a:xfrm>
          <a:prstGeom prst="rect">
            <a:avLst/>
          </a:prstGeom>
          <a:solidFill>
            <a:srgbClr val="F1C40F"/>
          </a:solidFill>
          <a:ln/>
        </p:spPr>
      </p:sp>
      <p:sp>
        <p:nvSpPr>
          <p:cNvPr id="7" name="Shape 5"/>
          <p:cNvSpPr/>
          <p:nvPr/>
        </p:nvSpPr>
        <p:spPr>
          <a:xfrm>
            <a:off x="2295144" y="1938528"/>
            <a:ext cx="201168" cy="54864"/>
          </a:xfrm>
          <a:prstGeom prst="rect">
            <a:avLst/>
          </a:prstGeom>
          <a:solidFill>
            <a:srgbClr val="8BAABF"/>
          </a:solidFill>
          <a:ln/>
        </p:spPr>
      </p:sp>
      <p:sp>
        <p:nvSpPr>
          <p:cNvPr id="8" name="Shape 6"/>
          <p:cNvSpPr/>
          <p:nvPr/>
        </p:nvSpPr>
        <p:spPr>
          <a:xfrm>
            <a:off x="320040" y="1005840"/>
            <a:ext cx="1993392" cy="3520440"/>
          </a:xfrm>
          <a:prstGeom prst="rect">
            <a:avLst/>
          </a:prstGeom>
          <a:solidFill>
            <a:srgbClr val="162B50"/>
          </a:solidFill>
          <a:ln w="10160">
            <a:solidFill>
              <a:srgbClr val="4FC3F7"/>
            </a:solidFill>
            <a:prstDash val="solid"/>
          </a:ln>
          <a:effectLst>
            <a:outerShdw blurRad="63500" dist="25400" dir="8100000" algn="bl" rotWithShape="0">
              <a:srgbClr val="000000">
                <a:alpha val="18000"/>
              </a:srgbClr>
            </a:outerShdw>
          </a:effectLst>
        </p:spPr>
      </p:sp>
      <p:sp>
        <p:nvSpPr>
          <p:cNvPr id="9" name="Shape 7"/>
          <p:cNvSpPr/>
          <p:nvPr/>
        </p:nvSpPr>
        <p:spPr>
          <a:xfrm>
            <a:off x="813816" y="1143000"/>
            <a:ext cx="1005840" cy="1005840"/>
          </a:xfrm>
          <a:prstGeom prst="ellipse">
            <a:avLst/>
          </a:prstGeom>
          <a:solidFill>
            <a:srgbClr val="4FC3F7">
              <a:alpha val="82000"/>
            </a:srgbClr>
          </a:solidFill>
          <a:ln w="15240">
            <a:solidFill>
              <a:srgbClr val="4FC3F7"/>
            </a:solidFill>
            <a:prstDash val="solid"/>
          </a:ln>
        </p:spPr>
      </p:sp>
      <p:sp>
        <p:nvSpPr>
          <p:cNvPr id="10" name="Text 8"/>
          <p:cNvSpPr/>
          <p:nvPr/>
        </p:nvSpPr>
        <p:spPr>
          <a:xfrm>
            <a:off x="813816" y="1143000"/>
            <a:ext cx="1005840" cy="1005840"/>
          </a:xfrm>
          <a:prstGeom prst="rect">
            <a:avLst/>
          </a:prstGeom>
          <a:noFill/>
          <a:ln/>
        </p:spPr>
        <p:txBody>
          <a:bodyPr wrap="square" lIns="0" tIns="0" rIns="0" bIns="0" rtlCol="0" anchor="ctr"/>
          <a:lstStyle/>
          <a:p>
            <a:pPr marL="0" indent="0" algn="ctr">
              <a:buNone/>
            </a:pPr>
            <a:r>
              <a:rPr lang="en-US" sz="2200" b="1" dirty="0">
                <a:solidFill>
                  <a:srgbClr val="0F2240"/>
                </a:solidFill>
                <a:latin typeface="Calibri" pitchFamily="34" charset="0"/>
                <a:ea typeface="Calibri" pitchFamily="34" charset="-122"/>
                <a:cs typeface="Calibri" pitchFamily="34" charset="-120"/>
              </a:rPr>
              <a:t>01</a:t>
            </a:r>
            <a:endParaRPr lang="en-US" sz="2200" dirty="0"/>
          </a:p>
        </p:txBody>
      </p:sp>
      <p:sp>
        <p:nvSpPr>
          <p:cNvPr id="11" name="Text 9"/>
          <p:cNvSpPr/>
          <p:nvPr/>
        </p:nvSpPr>
        <p:spPr>
          <a:xfrm>
            <a:off x="411480" y="2249424"/>
            <a:ext cx="1810512" cy="320040"/>
          </a:xfrm>
          <a:prstGeom prst="rect">
            <a:avLst/>
          </a:prstGeom>
          <a:noFill/>
          <a:ln/>
        </p:spPr>
        <p:txBody>
          <a:bodyPr wrap="square" lIns="0" tIns="0" rIns="0" bIns="0" rtlCol="0" anchor="ctr"/>
          <a:lstStyle/>
          <a:p>
            <a:pPr marL="0" indent="0" algn="ctr">
              <a:buNone/>
            </a:pPr>
            <a:r>
              <a:rPr lang="en-US" sz="1050" b="1" dirty="0">
                <a:solidFill>
                  <a:srgbClr val="4FC3F7"/>
                </a:solidFill>
                <a:latin typeface="Calibri" pitchFamily="34" charset="0"/>
                <a:ea typeface="Calibri" pitchFamily="34" charset="-122"/>
                <a:cs typeface="Calibri" pitchFamily="34" charset="-120"/>
              </a:rPr>
              <a:t>Bulan 1</a:t>
            </a:r>
            <a:endParaRPr lang="en-US" sz="1050" dirty="0"/>
          </a:p>
        </p:txBody>
      </p:sp>
      <p:sp>
        <p:nvSpPr>
          <p:cNvPr id="12" name="Shape 10"/>
          <p:cNvSpPr/>
          <p:nvPr/>
        </p:nvSpPr>
        <p:spPr>
          <a:xfrm>
            <a:off x="502920" y="2587752"/>
            <a:ext cx="1627632" cy="27432"/>
          </a:xfrm>
          <a:prstGeom prst="rect">
            <a:avLst/>
          </a:prstGeom>
          <a:solidFill>
            <a:srgbClr val="4FC3F7">
              <a:alpha val="50000"/>
            </a:srgbClr>
          </a:solidFill>
          <a:ln/>
        </p:spPr>
      </p:sp>
      <p:sp>
        <p:nvSpPr>
          <p:cNvPr id="13" name="Text 11"/>
          <p:cNvSpPr/>
          <p:nvPr/>
        </p:nvSpPr>
        <p:spPr>
          <a:xfrm>
            <a:off x="411480" y="2651760"/>
            <a:ext cx="1810512"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Studi Literatur</a:t>
            </a:r>
            <a:endParaRPr lang="en-US" sz="1300" dirty="0"/>
          </a:p>
        </p:txBody>
      </p:sp>
      <p:sp>
        <p:nvSpPr>
          <p:cNvPr id="14" name="Text 12"/>
          <p:cNvSpPr/>
          <p:nvPr/>
        </p:nvSpPr>
        <p:spPr>
          <a:xfrm>
            <a:off x="411480" y="3063240"/>
            <a:ext cx="1810512" cy="1325880"/>
          </a:xfrm>
          <a:prstGeom prst="rect">
            <a:avLst/>
          </a:prstGeom>
          <a:noFill/>
          <a:ln/>
        </p:spPr>
        <p:txBody>
          <a:bodyPr wrap="square" lIns="0" tIns="0" rIns="0" bIns="0" rtlCol="0" anchor="t"/>
          <a:lstStyle/>
          <a:p>
            <a:pPr marL="0" indent="0" algn="ctr">
              <a:buNone/>
            </a:pPr>
            <a:r>
              <a:rPr lang="en-US" sz="1000" dirty="0">
                <a:solidFill>
                  <a:srgbClr val="8BAABF"/>
                </a:solidFill>
                <a:latin typeface="Calibri" pitchFamily="34" charset="0"/>
                <a:ea typeface="Calibri" pitchFamily="34" charset="-122"/>
                <a:cs typeface="Calibri" pitchFamily="34" charset="-120"/>
              </a:rPr>
              <a:t>Pengumpulan Dataset Lintas Domain</a:t>
            </a:r>
            <a:endParaRPr lang="en-US" sz="1000" dirty="0"/>
          </a:p>
        </p:txBody>
      </p:sp>
      <p:sp>
        <p:nvSpPr>
          <p:cNvPr id="15" name="Shape 13"/>
          <p:cNvSpPr/>
          <p:nvPr/>
        </p:nvSpPr>
        <p:spPr>
          <a:xfrm>
            <a:off x="4471416" y="1938528"/>
            <a:ext cx="201168" cy="54864"/>
          </a:xfrm>
          <a:prstGeom prst="rect">
            <a:avLst/>
          </a:prstGeom>
          <a:solidFill>
            <a:srgbClr val="8BAABF"/>
          </a:solidFill>
          <a:ln/>
        </p:spPr>
      </p:sp>
      <p:sp>
        <p:nvSpPr>
          <p:cNvPr id="16" name="Shape 14"/>
          <p:cNvSpPr/>
          <p:nvPr/>
        </p:nvSpPr>
        <p:spPr>
          <a:xfrm>
            <a:off x="2496312" y="1005840"/>
            <a:ext cx="1993392" cy="3520440"/>
          </a:xfrm>
          <a:prstGeom prst="rect">
            <a:avLst/>
          </a:prstGeom>
          <a:solidFill>
            <a:srgbClr val="162B50"/>
          </a:solidFill>
          <a:ln w="10160">
            <a:solidFill>
              <a:srgbClr val="F1C40F"/>
            </a:solidFill>
            <a:prstDash val="solid"/>
          </a:ln>
          <a:effectLst>
            <a:outerShdw blurRad="63500" dist="25400" dir="8100000" algn="bl" rotWithShape="0">
              <a:srgbClr val="000000">
                <a:alpha val="18000"/>
              </a:srgbClr>
            </a:outerShdw>
          </a:effectLst>
        </p:spPr>
      </p:sp>
      <p:sp>
        <p:nvSpPr>
          <p:cNvPr id="17" name="Shape 15"/>
          <p:cNvSpPr/>
          <p:nvPr/>
        </p:nvSpPr>
        <p:spPr>
          <a:xfrm>
            <a:off x="2990088" y="1143000"/>
            <a:ext cx="1005840" cy="1005840"/>
          </a:xfrm>
          <a:prstGeom prst="ellipse">
            <a:avLst/>
          </a:prstGeom>
          <a:solidFill>
            <a:srgbClr val="F1C40F">
              <a:alpha val="82000"/>
            </a:srgbClr>
          </a:solidFill>
          <a:ln w="15240">
            <a:solidFill>
              <a:srgbClr val="F1C40F"/>
            </a:solidFill>
            <a:prstDash val="solid"/>
          </a:ln>
        </p:spPr>
      </p:sp>
      <p:sp>
        <p:nvSpPr>
          <p:cNvPr id="18" name="Text 16"/>
          <p:cNvSpPr/>
          <p:nvPr/>
        </p:nvSpPr>
        <p:spPr>
          <a:xfrm>
            <a:off x="2990088" y="1143000"/>
            <a:ext cx="1005840" cy="1005840"/>
          </a:xfrm>
          <a:prstGeom prst="rect">
            <a:avLst/>
          </a:prstGeom>
          <a:noFill/>
          <a:ln/>
        </p:spPr>
        <p:txBody>
          <a:bodyPr wrap="square" lIns="0" tIns="0" rIns="0" bIns="0" rtlCol="0" anchor="ctr"/>
          <a:lstStyle/>
          <a:p>
            <a:pPr marL="0" indent="0" algn="ctr">
              <a:buNone/>
            </a:pPr>
            <a:r>
              <a:rPr lang="en-US" sz="2200" b="1" dirty="0">
                <a:solidFill>
                  <a:srgbClr val="0F2240"/>
                </a:solidFill>
                <a:latin typeface="Calibri" pitchFamily="34" charset="0"/>
                <a:ea typeface="Calibri" pitchFamily="34" charset="-122"/>
                <a:cs typeface="Calibri" pitchFamily="34" charset="-120"/>
              </a:rPr>
              <a:t>02</a:t>
            </a:r>
            <a:endParaRPr lang="en-US" sz="2200" dirty="0"/>
          </a:p>
        </p:txBody>
      </p:sp>
      <p:sp>
        <p:nvSpPr>
          <p:cNvPr id="19" name="Text 17"/>
          <p:cNvSpPr/>
          <p:nvPr/>
        </p:nvSpPr>
        <p:spPr>
          <a:xfrm>
            <a:off x="2587752" y="2249424"/>
            <a:ext cx="1810512" cy="320040"/>
          </a:xfrm>
          <a:prstGeom prst="rect">
            <a:avLst/>
          </a:prstGeom>
          <a:noFill/>
          <a:ln/>
        </p:spPr>
        <p:txBody>
          <a:bodyPr wrap="square" lIns="0" tIns="0" rIns="0" bIns="0" rtlCol="0" anchor="ctr"/>
          <a:lstStyle/>
          <a:p>
            <a:pPr marL="0" indent="0" algn="ctr">
              <a:buNone/>
            </a:pPr>
            <a:r>
              <a:rPr lang="en-US" sz="1050" b="1" dirty="0">
                <a:solidFill>
                  <a:srgbClr val="F1C40F"/>
                </a:solidFill>
                <a:latin typeface="Calibri" pitchFamily="34" charset="0"/>
                <a:ea typeface="Calibri" pitchFamily="34" charset="-122"/>
                <a:cs typeface="Calibri" pitchFamily="34" charset="-120"/>
              </a:rPr>
              <a:t>Bulan 2</a:t>
            </a:r>
            <a:endParaRPr lang="en-US" sz="1050" dirty="0"/>
          </a:p>
        </p:txBody>
      </p:sp>
      <p:sp>
        <p:nvSpPr>
          <p:cNvPr id="20" name="Shape 18"/>
          <p:cNvSpPr/>
          <p:nvPr/>
        </p:nvSpPr>
        <p:spPr>
          <a:xfrm>
            <a:off x="2679192" y="2587752"/>
            <a:ext cx="1627632" cy="27432"/>
          </a:xfrm>
          <a:prstGeom prst="rect">
            <a:avLst/>
          </a:prstGeom>
          <a:solidFill>
            <a:srgbClr val="F1C40F">
              <a:alpha val="50000"/>
            </a:srgbClr>
          </a:solidFill>
          <a:ln/>
        </p:spPr>
      </p:sp>
      <p:sp>
        <p:nvSpPr>
          <p:cNvPr id="21" name="Text 19"/>
          <p:cNvSpPr/>
          <p:nvPr/>
        </p:nvSpPr>
        <p:spPr>
          <a:xfrm>
            <a:off x="2587752" y="2651760"/>
            <a:ext cx="1810512"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Perancangan</a:t>
            </a:r>
            <a:endParaRPr lang="en-US" sz="1300" dirty="0"/>
          </a:p>
        </p:txBody>
      </p:sp>
      <p:sp>
        <p:nvSpPr>
          <p:cNvPr id="22" name="Text 20"/>
          <p:cNvSpPr/>
          <p:nvPr/>
        </p:nvSpPr>
        <p:spPr>
          <a:xfrm>
            <a:off x="2587752" y="3063240"/>
            <a:ext cx="1810512" cy="1325880"/>
          </a:xfrm>
          <a:prstGeom prst="rect">
            <a:avLst/>
          </a:prstGeom>
          <a:noFill/>
          <a:ln/>
        </p:spPr>
        <p:txBody>
          <a:bodyPr wrap="square" lIns="0" tIns="0" rIns="0" bIns="0" rtlCol="0" anchor="t"/>
          <a:lstStyle/>
          <a:p>
            <a:pPr marL="0" indent="0" algn="ctr">
              <a:buNone/>
            </a:pPr>
            <a:r>
              <a:rPr lang="en-US" sz="1000" dirty="0">
                <a:solidFill>
                  <a:srgbClr val="8BAABF"/>
                </a:solidFill>
                <a:latin typeface="Calibri" pitchFamily="34" charset="0"/>
                <a:ea typeface="Calibri" pitchFamily="34" charset="-122"/>
                <a:cs typeface="Calibri" pitchFamily="34" charset="-120"/>
              </a:rPr>
              <a:t>Arsitektur RAG &amp; Pengumpulan Data</a:t>
            </a:r>
            <a:endParaRPr lang="en-US" sz="1000" dirty="0"/>
          </a:p>
        </p:txBody>
      </p:sp>
      <p:sp>
        <p:nvSpPr>
          <p:cNvPr id="23" name="Shape 21"/>
          <p:cNvSpPr/>
          <p:nvPr/>
        </p:nvSpPr>
        <p:spPr>
          <a:xfrm>
            <a:off x="6647688" y="1938528"/>
            <a:ext cx="201168" cy="54864"/>
          </a:xfrm>
          <a:prstGeom prst="rect">
            <a:avLst/>
          </a:prstGeom>
          <a:solidFill>
            <a:srgbClr val="8BAABF"/>
          </a:solidFill>
          <a:ln/>
        </p:spPr>
      </p:sp>
      <p:sp>
        <p:nvSpPr>
          <p:cNvPr id="24" name="Shape 22"/>
          <p:cNvSpPr/>
          <p:nvPr/>
        </p:nvSpPr>
        <p:spPr>
          <a:xfrm>
            <a:off x="4672584" y="1005840"/>
            <a:ext cx="1993392" cy="3520440"/>
          </a:xfrm>
          <a:prstGeom prst="rect">
            <a:avLst/>
          </a:prstGeom>
          <a:solidFill>
            <a:srgbClr val="162B50"/>
          </a:solidFill>
          <a:ln w="10160">
            <a:solidFill>
              <a:srgbClr val="2ECC71"/>
            </a:solidFill>
            <a:prstDash val="solid"/>
          </a:ln>
          <a:effectLst>
            <a:outerShdw blurRad="63500" dist="25400" dir="8100000" algn="bl" rotWithShape="0">
              <a:srgbClr val="000000">
                <a:alpha val="18000"/>
              </a:srgbClr>
            </a:outerShdw>
          </a:effectLst>
        </p:spPr>
      </p:sp>
      <p:sp>
        <p:nvSpPr>
          <p:cNvPr id="25" name="Shape 23"/>
          <p:cNvSpPr/>
          <p:nvPr/>
        </p:nvSpPr>
        <p:spPr>
          <a:xfrm>
            <a:off x="5166360" y="1143000"/>
            <a:ext cx="1005840" cy="1005840"/>
          </a:xfrm>
          <a:prstGeom prst="ellipse">
            <a:avLst/>
          </a:prstGeom>
          <a:solidFill>
            <a:srgbClr val="2ECC71">
              <a:alpha val="82000"/>
            </a:srgbClr>
          </a:solidFill>
          <a:ln w="15240">
            <a:solidFill>
              <a:srgbClr val="2ECC71"/>
            </a:solidFill>
            <a:prstDash val="solid"/>
          </a:ln>
        </p:spPr>
      </p:sp>
      <p:sp>
        <p:nvSpPr>
          <p:cNvPr id="26" name="Text 24"/>
          <p:cNvSpPr/>
          <p:nvPr/>
        </p:nvSpPr>
        <p:spPr>
          <a:xfrm>
            <a:off x="5166360" y="1143000"/>
            <a:ext cx="1005840" cy="1005840"/>
          </a:xfrm>
          <a:prstGeom prst="rect">
            <a:avLst/>
          </a:prstGeom>
          <a:noFill/>
          <a:ln/>
        </p:spPr>
        <p:txBody>
          <a:bodyPr wrap="square" lIns="0" tIns="0" rIns="0" bIns="0" rtlCol="0" anchor="ctr"/>
          <a:lstStyle/>
          <a:p>
            <a:pPr marL="0" indent="0" algn="ctr">
              <a:buNone/>
            </a:pPr>
            <a:r>
              <a:rPr lang="en-US" sz="2200" b="1" dirty="0">
                <a:solidFill>
                  <a:srgbClr val="0F2240"/>
                </a:solidFill>
                <a:latin typeface="Calibri" pitchFamily="34" charset="0"/>
                <a:ea typeface="Calibri" pitchFamily="34" charset="-122"/>
                <a:cs typeface="Calibri" pitchFamily="34" charset="-120"/>
              </a:rPr>
              <a:t>03</a:t>
            </a:r>
            <a:endParaRPr lang="en-US" sz="2200" dirty="0"/>
          </a:p>
        </p:txBody>
      </p:sp>
      <p:sp>
        <p:nvSpPr>
          <p:cNvPr id="27" name="Text 25"/>
          <p:cNvSpPr/>
          <p:nvPr/>
        </p:nvSpPr>
        <p:spPr>
          <a:xfrm>
            <a:off x="4764024" y="2249424"/>
            <a:ext cx="1810512" cy="320040"/>
          </a:xfrm>
          <a:prstGeom prst="rect">
            <a:avLst/>
          </a:prstGeom>
          <a:noFill/>
          <a:ln/>
        </p:spPr>
        <p:txBody>
          <a:bodyPr wrap="square" lIns="0" tIns="0" rIns="0" bIns="0" rtlCol="0" anchor="ctr"/>
          <a:lstStyle/>
          <a:p>
            <a:pPr marL="0" indent="0" algn="ctr">
              <a:buNone/>
            </a:pPr>
            <a:r>
              <a:rPr lang="en-US" sz="1050" b="1" dirty="0">
                <a:solidFill>
                  <a:srgbClr val="2ECC71"/>
                </a:solidFill>
                <a:latin typeface="Calibri" pitchFamily="34" charset="0"/>
                <a:ea typeface="Calibri" pitchFamily="34" charset="-122"/>
                <a:cs typeface="Calibri" pitchFamily="34" charset="-120"/>
              </a:rPr>
              <a:t>Bulan 3</a:t>
            </a:r>
            <a:endParaRPr lang="en-US" sz="1050" dirty="0"/>
          </a:p>
        </p:txBody>
      </p:sp>
      <p:sp>
        <p:nvSpPr>
          <p:cNvPr id="28" name="Shape 26"/>
          <p:cNvSpPr/>
          <p:nvPr/>
        </p:nvSpPr>
        <p:spPr>
          <a:xfrm>
            <a:off x="4855464" y="2587752"/>
            <a:ext cx="1627632" cy="27432"/>
          </a:xfrm>
          <a:prstGeom prst="rect">
            <a:avLst/>
          </a:prstGeom>
          <a:solidFill>
            <a:srgbClr val="2ECC71">
              <a:alpha val="50000"/>
            </a:srgbClr>
          </a:solidFill>
          <a:ln/>
        </p:spPr>
      </p:sp>
      <p:sp>
        <p:nvSpPr>
          <p:cNvPr id="29" name="Text 27"/>
          <p:cNvSpPr/>
          <p:nvPr/>
        </p:nvSpPr>
        <p:spPr>
          <a:xfrm>
            <a:off x="4764024" y="2651760"/>
            <a:ext cx="1810512"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Implementasi</a:t>
            </a:r>
            <a:endParaRPr lang="en-US" sz="1300" dirty="0"/>
          </a:p>
        </p:txBody>
      </p:sp>
      <p:sp>
        <p:nvSpPr>
          <p:cNvPr id="30" name="Text 28"/>
          <p:cNvSpPr/>
          <p:nvPr/>
        </p:nvSpPr>
        <p:spPr>
          <a:xfrm>
            <a:off x="4764024" y="3063240"/>
            <a:ext cx="1810512" cy="1325880"/>
          </a:xfrm>
          <a:prstGeom prst="rect">
            <a:avLst/>
          </a:prstGeom>
          <a:noFill/>
          <a:ln/>
        </p:spPr>
        <p:txBody>
          <a:bodyPr wrap="square" lIns="0" tIns="0" rIns="0" bIns="0" rtlCol="0" anchor="t"/>
          <a:lstStyle/>
          <a:p>
            <a:pPr marL="0" indent="0" algn="ctr">
              <a:buNone/>
            </a:pPr>
            <a:r>
              <a:rPr lang="en-US" sz="1000" dirty="0">
                <a:solidFill>
                  <a:srgbClr val="8BAABF"/>
                </a:solidFill>
                <a:latin typeface="Calibri" pitchFamily="34" charset="0"/>
                <a:ea typeface="Calibri" pitchFamily="34" charset="-122"/>
                <a:cs typeface="Calibri" pitchFamily="34" charset="-120"/>
              </a:rPr>
              <a:t>Coding, Pengujian &amp; Evaluasi Metrik</a:t>
            </a:r>
            <a:endParaRPr lang="en-US" sz="1000" dirty="0"/>
          </a:p>
        </p:txBody>
      </p:sp>
      <p:sp>
        <p:nvSpPr>
          <p:cNvPr id="31" name="Shape 29"/>
          <p:cNvSpPr/>
          <p:nvPr/>
        </p:nvSpPr>
        <p:spPr>
          <a:xfrm>
            <a:off x="6848856" y="1005840"/>
            <a:ext cx="1993392" cy="3520440"/>
          </a:xfrm>
          <a:prstGeom prst="rect">
            <a:avLst/>
          </a:prstGeom>
          <a:solidFill>
            <a:srgbClr val="162B50"/>
          </a:solidFill>
          <a:ln w="10160">
            <a:solidFill>
              <a:srgbClr val="E67E22"/>
            </a:solidFill>
            <a:prstDash val="solid"/>
          </a:ln>
          <a:effectLst>
            <a:outerShdw blurRad="63500" dist="25400" dir="8100000" algn="bl" rotWithShape="0">
              <a:srgbClr val="000000">
                <a:alpha val="18000"/>
              </a:srgbClr>
            </a:outerShdw>
          </a:effectLst>
        </p:spPr>
      </p:sp>
      <p:sp>
        <p:nvSpPr>
          <p:cNvPr id="32" name="Shape 30"/>
          <p:cNvSpPr/>
          <p:nvPr/>
        </p:nvSpPr>
        <p:spPr>
          <a:xfrm>
            <a:off x="7342632" y="1143000"/>
            <a:ext cx="1005840" cy="1005840"/>
          </a:xfrm>
          <a:prstGeom prst="ellipse">
            <a:avLst/>
          </a:prstGeom>
          <a:solidFill>
            <a:srgbClr val="E67E22">
              <a:alpha val="82000"/>
            </a:srgbClr>
          </a:solidFill>
          <a:ln w="15240">
            <a:solidFill>
              <a:srgbClr val="E67E22"/>
            </a:solidFill>
            <a:prstDash val="solid"/>
          </a:ln>
        </p:spPr>
      </p:sp>
      <p:sp>
        <p:nvSpPr>
          <p:cNvPr id="33" name="Text 31"/>
          <p:cNvSpPr/>
          <p:nvPr/>
        </p:nvSpPr>
        <p:spPr>
          <a:xfrm>
            <a:off x="7342632" y="1143000"/>
            <a:ext cx="1005840" cy="1005840"/>
          </a:xfrm>
          <a:prstGeom prst="rect">
            <a:avLst/>
          </a:prstGeom>
          <a:noFill/>
          <a:ln/>
        </p:spPr>
        <p:txBody>
          <a:bodyPr wrap="square" lIns="0" tIns="0" rIns="0" bIns="0" rtlCol="0" anchor="ctr"/>
          <a:lstStyle/>
          <a:p>
            <a:pPr marL="0" indent="0" algn="ctr">
              <a:buNone/>
            </a:pPr>
            <a:r>
              <a:rPr lang="en-US" sz="2200" b="1" dirty="0">
                <a:solidFill>
                  <a:srgbClr val="0F2240"/>
                </a:solidFill>
                <a:latin typeface="Calibri" pitchFamily="34" charset="0"/>
                <a:ea typeface="Calibri" pitchFamily="34" charset="-122"/>
                <a:cs typeface="Calibri" pitchFamily="34" charset="-120"/>
              </a:rPr>
              <a:t>04</a:t>
            </a:r>
            <a:endParaRPr lang="en-US" sz="2200" dirty="0"/>
          </a:p>
        </p:txBody>
      </p:sp>
      <p:sp>
        <p:nvSpPr>
          <p:cNvPr id="34" name="Text 32"/>
          <p:cNvSpPr/>
          <p:nvPr/>
        </p:nvSpPr>
        <p:spPr>
          <a:xfrm>
            <a:off x="6940296" y="2249424"/>
            <a:ext cx="1810512" cy="320040"/>
          </a:xfrm>
          <a:prstGeom prst="rect">
            <a:avLst/>
          </a:prstGeom>
          <a:noFill/>
          <a:ln/>
        </p:spPr>
        <p:txBody>
          <a:bodyPr wrap="square" lIns="0" tIns="0" rIns="0" bIns="0" rtlCol="0" anchor="ctr"/>
          <a:lstStyle/>
          <a:p>
            <a:pPr marL="0" indent="0" algn="ctr">
              <a:buNone/>
            </a:pPr>
            <a:r>
              <a:rPr lang="en-US" sz="1050" b="1" dirty="0">
                <a:solidFill>
                  <a:srgbClr val="E67E22"/>
                </a:solidFill>
                <a:latin typeface="Calibri" pitchFamily="34" charset="0"/>
                <a:ea typeface="Calibri" pitchFamily="34" charset="-122"/>
                <a:cs typeface="Calibri" pitchFamily="34" charset="-120"/>
              </a:rPr>
              <a:t>Bulan 4</a:t>
            </a:r>
            <a:endParaRPr lang="en-US" sz="1050" dirty="0"/>
          </a:p>
        </p:txBody>
      </p:sp>
      <p:sp>
        <p:nvSpPr>
          <p:cNvPr id="35" name="Shape 33"/>
          <p:cNvSpPr/>
          <p:nvPr/>
        </p:nvSpPr>
        <p:spPr>
          <a:xfrm>
            <a:off x="7031736" y="2587752"/>
            <a:ext cx="1627632" cy="27432"/>
          </a:xfrm>
          <a:prstGeom prst="rect">
            <a:avLst/>
          </a:prstGeom>
          <a:solidFill>
            <a:srgbClr val="E67E22">
              <a:alpha val="50000"/>
            </a:srgbClr>
          </a:solidFill>
          <a:ln/>
        </p:spPr>
      </p:sp>
      <p:sp>
        <p:nvSpPr>
          <p:cNvPr id="36" name="Text 34"/>
          <p:cNvSpPr/>
          <p:nvPr/>
        </p:nvSpPr>
        <p:spPr>
          <a:xfrm>
            <a:off x="6940296" y="2651760"/>
            <a:ext cx="1810512"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Finalisasi</a:t>
            </a:r>
            <a:endParaRPr lang="en-US" sz="1300" dirty="0"/>
          </a:p>
        </p:txBody>
      </p:sp>
      <p:sp>
        <p:nvSpPr>
          <p:cNvPr id="37" name="Text 35"/>
          <p:cNvSpPr/>
          <p:nvPr/>
        </p:nvSpPr>
        <p:spPr>
          <a:xfrm>
            <a:off x="6940296" y="3063240"/>
            <a:ext cx="1810512" cy="1325880"/>
          </a:xfrm>
          <a:prstGeom prst="rect">
            <a:avLst/>
          </a:prstGeom>
          <a:noFill/>
          <a:ln/>
        </p:spPr>
        <p:txBody>
          <a:bodyPr wrap="square" lIns="0" tIns="0" rIns="0" bIns="0" rtlCol="0" anchor="t"/>
          <a:lstStyle/>
          <a:p>
            <a:pPr marL="0" indent="0" algn="ctr">
              <a:buNone/>
            </a:pPr>
            <a:r>
              <a:rPr lang="en-US" sz="1000" dirty="0">
                <a:solidFill>
                  <a:srgbClr val="8BAABF"/>
                </a:solidFill>
                <a:latin typeface="Calibri" pitchFamily="34" charset="0"/>
                <a:ea typeface="Calibri" pitchFamily="34" charset="-122"/>
                <a:cs typeface="Calibri" pitchFamily="34" charset="-120"/>
              </a:rPr>
              <a:t>Evaluasi Akhir &amp; Laporan Penelitian</a:t>
            </a:r>
            <a:endParaRPr lang="en-US" sz="1000" dirty="0"/>
          </a:p>
        </p:txBody>
      </p:sp>
      <p:sp>
        <p:nvSpPr>
          <p:cNvPr id="38" name="Shape 36"/>
          <p:cNvSpPr/>
          <p:nvPr/>
        </p:nvSpPr>
        <p:spPr>
          <a:xfrm>
            <a:off x="320040" y="4690872"/>
            <a:ext cx="8503920" cy="320040"/>
          </a:xfrm>
          <a:prstGeom prst="rect">
            <a:avLst/>
          </a:prstGeom>
          <a:solidFill>
            <a:srgbClr val="0D1C36"/>
          </a:solidFill>
          <a:ln/>
        </p:spPr>
      </p:sp>
      <p:sp>
        <p:nvSpPr>
          <p:cNvPr id="39" name="Text 37"/>
          <p:cNvSpPr/>
          <p:nvPr/>
        </p:nvSpPr>
        <p:spPr>
          <a:xfrm>
            <a:off x="320040" y="4690872"/>
            <a:ext cx="8503920" cy="320040"/>
          </a:xfrm>
          <a:prstGeom prst="rect">
            <a:avLst/>
          </a:prstGeom>
          <a:noFill/>
          <a:ln/>
        </p:spPr>
        <p:txBody>
          <a:bodyPr wrap="square" lIns="0" tIns="0" rIns="0" bIns="0" rtlCol="0" anchor="ctr"/>
          <a:lstStyle/>
          <a:p>
            <a:pPr marL="0" indent="0" algn="ctr">
              <a:buNone/>
            </a:pPr>
            <a:r>
              <a:rPr lang="en-US" sz="1050" dirty="0">
                <a:solidFill>
                  <a:srgbClr val="4FC3F7"/>
                </a:solidFill>
                <a:latin typeface="Calibri" pitchFamily="34" charset="0"/>
                <a:ea typeface="Calibri" pitchFamily="34" charset="-122"/>
                <a:cs typeface="Calibri" pitchFamily="34" charset="-120"/>
              </a:rPr>
              <a:t>Terima kasih atas perhatian Bapak/Ibu  ·  Wassalamu'alaikum Warahmatullahi Wabarakatuh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4059</Words>
  <Application>Microsoft Office PowerPoint</Application>
  <PresentationFormat>On-screen Show (16:9)</PresentationFormat>
  <Paragraphs>114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UTS Metodologi Penelitian – RAG NLP Bahasa Indonesia</dc:title>
  <dc:subject>PptxGenJS Presentation</dc:subject>
  <dc:creator>Shanaya Balghis Riyona</dc:creator>
  <cp:lastModifiedBy>shnyablqsr@gmail.com</cp:lastModifiedBy>
  <cp:revision>2</cp:revision>
  <dcterms:created xsi:type="dcterms:W3CDTF">2026-06-06T06:44:55Z</dcterms:created>
  <dcterms:modified xsi:type="dcterms:W3CDTF">2026-06-06T09:10:10Z</dcterms:modified>
</cp:coreProperties>
</file>